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1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</p:sldIdLst>
  <p:sldSz cy="6858000" cx="12192000"/>
  <p:notesSz cx="6858000" cy="12192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" name="Google Shape;21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We assign customer orders to three plants, balancing landed cost, carbon and delivery dates, and explain the plan in plain English.</a:t>
            </a:r>
            <a:endParaRPr/>
          </a:p>
        </p:txBody>
      </p:sp>
      <p:sp>
        <p:nvSpPr>
          <p:cNvPr id="22" name="Google Shape;22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" name="Google Shape;2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" name="Google Shape;29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5" name="Google Shape;55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" name="Google Shape;56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4" name="Google Shape;134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8" name="Google Shape;14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8" name="Google Shape;178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" name="Google Shape;179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8" name="Google Shape;198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Default plan costs about 14% more than the cheapest on-time plan but emits about 41% less carbon with the same 2 late orders. The greedy rule is cheap only because it ignores due dates.</a:t>
            </a:r>
            <a:endParaRPr/>
          </a:p>
        </p:txBody>
      </p:sp>
      <p:sp>
        <p:nvSpPr>
          <p:cNvPr id="199" name="Google Shape;199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6" name="Google Shape;21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7" name="Google Shape;237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1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ARK">
  <p:cSld name="DARK">
    <p:bg>
      <p:bgPr>
        <a:solidFill>
          <a:schemeClr val="dk2"/>
        </a:solid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type="title"/>
          </p:nvPr>
        </p:nvSpPr>
        <p:spPr>
          <a:xfrm>
            <a:off x="731520" y="2011680"/>
            <a:ext cx="1069848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mbria"/>
              <a:buNone/>
              <a:defRPr b="1" i="0" sz="4400" u="none" cap="none" strike="noStrike">
                <a:solidFill>
                  <a:schemeClr val="lt1"/>
                </a:solidFill>
                <a:latin typeface="Cambria"/>
                <a:ea typeface="Cambria"/>
                <a:cs typeface="Cambria"/>
                <a:sym typeface="Cambri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3" name="Google Shape;13;p2"/>
          <p:cNvSpPr txBox="1"/>
          <p:nvPr>
            <p:ph idx="1" type="body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36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IGHT">
  <p:cSld name="LIGHT">
    <p:bg>
      <p:bgPr>
        <a:solidFill>
          <a:schemeClr val="lt1"/>
        </a:solidFill>
      </p:bgPr>
    </p:bg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 txBox="1"/>
          <p:nvPr>
            <p:ph type="title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Cambria"/>
              <a:buNone/>
              <a:defRPr b="1" i="0" sz="3200" u="none" cap="none" strike="noStrike"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6" name="Google Shape;16;p3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HCLTech Future Ready AI Engineer Hackathon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3"/>
          <p:cNvSpPr txBox="1"/>
          <p:nvPr>
            <p:ph idx="12" type="sldNum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l">
              <a:spcBef>
                <a:spcPts val="0"/>
              </a:spcBef>
              <a:buNone/>
              <a:defRPr b="0" i="0" sz="1000" u="none" cap="none" strike="noStrike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l">
              <a:spcBef>
                <a:spcPts val="0"/>
              </a:spcBef>
              <a:buNone/>
              <a:defRPr b="0" i="0" sz="1000" u="none" cap="none" strike="noStrike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l">
              <a:spcBef>
                <a:spcPts val="0"/>
              </a:spcBef>
              <a:buNone/>
              <a:defRPr b="0" i="0" sz="1000" u="none" cap="none" strike="noStrike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l">
              <a:spcBef>
                <a:spcPts val="0"/>
              </a:spcBef>
              <a:buNone/>
              <a:defRPr b="0" i="0" sz="1000" u="none" cap="none" strike="noStrike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l">
              <a:spcBef>
                <a:spcPts val="0"/>
              </a:spcBef>
              <a:buNone/>
              <a:defRPr b="0" i="0" sz="1000" u="none" cap="none" strike="noStrike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l">
              <a:spcBef>
                <a:spcPts val="0"/>
              </a:spcBef>
              <a:buNone/>
              <a:defRPr b="0" i="0" sz="1000" u="none" cap="none" strike="noStrike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l">
              <a:spcBef>
                <a:spcPts val="0"/>
              </a:spcBef>
              <a:buNone/>
              <a:defRPr b="0" i="0" sz="1000" u="none" cap="none" strike="noStrike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l">
              <a:spcBef>
                <a:spcPts val="0"/>
              </a:spcBef>
              <a:buNone/>
              <a:defRPr b="0" i="0" sz="1000" u="none" cap="none" strike="noStrike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l">
              <a:spcBef>
                <a:spcPts val="0"/>
              </a:spcBef>
              <a:buNone/>
              <a:defRPr b="0" i="0" sz="1000" u="none" cap="none" strike="noStrike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/>
          <p:nvPr>
            <p:ph type="title"/>
          </p:nvPr>
        </p:nvSpPr>
        <p:spPr>
          <a:xfrm>
            <a:off x="731520" y="2011680"/>
            <a:ext cx="1069848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mbria"/>
              <a:buNone/>
            </a:pPr>
            <a:r>
              <a:rPr b="1" lang="en-US" sz="4400">
                <a:solidFill>
                  <a:schemeClr val="lt1"/>
                </a:solidFill>
              </a:rPr>
              <a:t>Multi-Plant Order Allocation with Cost and Carbon</a:t>
            </a:r>
            <a:endParaRPr sz="4400"/>
          </a:p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None/>
            </a:pPr>
            <a:r>
              <a:rPr lang="en-US" sz="1800">
                <a:solidFill>
                  <a:schemeClr val="lt2"/>
                </a:solidFill>
              </a:rPr>
              <a:t>Combined optimisation (PuLP) + Gemini function calling + Streamlit</a:t>
            </a:r>
            <a:endParaRPr sz="1800"/>
          </a:p>
          <a:p>
            <a:pPr indent="0" lvl="0" marL="0" rtl="0" algn="l">
              <a:spcBef>
                <a:spcPts val="360"/>
              </a:spcBef>
              <a:spcAft>
                <a:spcPts val="0"/>
              </a:spcAft>
              <a:buClr>
                <a:schemeClr val="lt2"/>
              </a:buClr>
              <a:buSzPts val="1800"/>
              <a:buNone/>
            </a:pPr>
            <a:r>
              <a:rPr lang="en-US" sz="1800">
                <a:solidFill>
                  <a:schemeClr val="lt2"/>
                </a:solidFill>
              </a:rPr>
              <a:t>HCLTech Future Ready AI Engineer Hackathon · October 2026</a:t>
            </a:r>
            <a:endParaRPr sz="1800">
              <a:solidFill>
                <a:schemeClr val="lt2"/>
              </a:solidFill>
            </a:endParaRPr>
          </a:p>
          <a:p>
            <a:pPr indent="0" lvl="0" marL="0" rtl="0" algn="l">
              <a:spcBef>
                <a:spcPts val="360"/>
              </a:spcBef>
              <a:spcAft>
                <a:spcPts val="0"/>
              </a:spcAft>
              <a:buClr>
                <a:schemeClr val="lt2"/>
              </a:buClr>
              <a:buSzPts val="18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6"/>
          <p:cNvSpPr txBox="1"/>
          <p:nvPr>
            <p:ph type="title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Cambria"/>
              <a:buNone/>
            </a:pPr>
            <a:r>
              <a:rPr b="1" lang="en-US" sz="3200">
                <a:solidFill>
                  <a:schemeClr val="dk2"/>
                </a:solidFill>
              </a:rPr>
              <a:t>The problem: cheapest, greenest and on time rarely agree</a:t>
            </a:r>
            <a:endParaRPr sz="3200"/>
          </a:p>
        </p:txBody>
      </p:sp>
      <p:sp>
        <p:nvSpPr>
          <p:cNvPr id="32" name="Google Shape;32;p6"/>
          <p:cNvSpPr txBox="1"/>
          <p:nvPr/>
        </p:nvSpPr>
        <p:spPr>
          <a:xfrm>
            <a:off x="548640" y="1280160"/>
            <a:ext cx="110642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Every order can be built in any capable plant. Each plant has a different cost, carbon intensity, capacity and distance to customers.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6"/>
          <p:cNvSpPr/>
          <p:nvPr/>
        </p:nvSpPr>
        <p:spPr>
          <a:xfrm>
            <a:off x="548640" y="2194560"/>
            <a:ext cx="3474720" cy="2834640"/>
          </a:xfrm>
          <a:prstGeom prst="roundRect">
            <a:avLst>
              <a:gd fmla="val 2581" name="adj"/>
            </a:avLst>
          </a:prstGeom>
          <a:solidFill>
            <a:schemeClr val="lt2"/>
          </a:solidFill>
          <a:ln cap="flat" cmpd="sng" w="12700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" name="Google Shape;34;p6"/>
          <p:cNvSpPr/>
          <p:nvPr/>
        </p:nvSpPr>
        <p:spPr>
          <a:xfrm>
            <a:off x="822960" y="2423160"/>
            <a:ext cx="457200" cy="457200"/>
          </a:xfrm>
          <a:prstGeom prst="ellipse">
            <a:avLst/>
          </a:prstGeom>
          <a:solidFill>
            <a:srgbClr val="D98E04"/>
          </a:solidFill>
          <a:ln cap="flat" cmpd="sng" w="12700">
            <a:solidFill>
              <a:srgbClr val="D98E0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" name="Google Shape;35;p6"/>
          <p:cNvSpPr txBox="1"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6"/>
          <p:cNvSpPr txBox="1"/>
          <p:nvPr/>
        </p:nvSpPr>
        <p:spPr>
          <a:xfrm>
            <a:off x="1463040" y="2423160"/>
            <a:ext cx="23774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Plant A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6"/>
          <p:cNvSpPr txBox="1"/>
          <p:nvPr/>
        </p:nvSpPr>
        <p:spPr>
          <a:xfrm>
            <a:off x="822960" y="3017520"/>
            <a:ext cx="30175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300"/>
              <a:buFont typeface="Calibri"/>
              <a:buNone/>
            </a:pPr>
            <a:r>
              <a:rPr b="0" i="1" lang="en-US" sz="1300" u="none" cap="none" strike="noStrike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Pune, India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6"/>
          <p:cNvSpPr txBox="1"/>
          <p:nvPr/>
        </p:nvSpPr>
        <p:spPr>
          <a:xfrm>
            <a:off x="822960" y="3429000"/>
            <a:ext cx="301752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</a:pPr>
            <a:r>
              <a:rPr b="0" i="0" lang="en-US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Lowest production cost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</a:pPr>
            <a:r>
              <a:rPr b="0" i="0" lang="en-US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High-carbon grid (0.82 kg/kWh)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</a:pPr>
            <a:r>
              <a:rPr b="0" i="0" lang="en-US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Long sea routes to Europe and the Americas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6"/>
          <p:cNvSpPr/>
          <p:nvPr/>
        </p:nvSpPr>
        <p:spPr>
          <a:xfrm>
            <a:off x="4297680" y="2194560"/>
            <a:ext cx="3474720" cy="2834640"/>
          </a:xfrm>
          <a:prstGeom prst="roundRect">
            <a:avLst>
              <a:gd fmla="val 2581" name="adj"/>
            </a:avLst>
          </a:prstGeom>
          <a:solidFill>
            <a:schemeClr val="lt2"/>
          </a:solidFill>
          <a:ln cap="flat" cmpd="sng" w="12700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" name="Google Shape;40;p6"/>
          <p:cNvSpPr/>
          <p:nvPr/>
        </p:nvSpPr>
        <p:spPr>
          <a:xfrm>
            <a:off x="4572000" y="2423160"/>
            <a:ext cx="457200" cy="457200"/>
          </a:xfrm>
          <a:prstGeom prst="ellipse">
            <a:avLst/>
          </a:prstGeom>
          <a:solidFill>
            <a:srgbClr val="4A6FA5"/>
          </a:solidFill>
          <a:ln cap="flat" cmpd="sng" w="12700">
            <a:solidFill>
              <a:srgbClr val="4A6F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" name="Google Shape;41;p6"/>
          <p:cNvSpPr txBox="1"/>
          <p:nvPr/>
        </p:nvSpPr>
        <p:spPr>
          <a:xfrm>
            <a:off x="4572000" y="242316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B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6"/>
          <p:cNvSpPr txBox="1"/>
          <p:nvPr/>
        </p:nvSpPr>
        <p:spPr>
          <a:xfrm>
            <a:off x="5212080" y="2423160"/>
            <a:ext cx="23774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Plant B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6"/>
          <p:cNvSpPr txBox="1"/>
          <p:nvPr/>
        </p:nvSpPr>
        <p:spPr>
          <a:xfrm>
            <a:off x="4572000" y="3017520"/>
            <a:ext cx="30175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300"/>
              <a:buFont typeface="Calibri"/>
              <a:buNone/>
            </a:pPr>
            <a:r>
              <a:rPr b="0" i="1" lang="en-US" sz="1300" u="none" cap="none" strike="noStrike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Stuttgart, Germany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6"/>
          <p:cNvSpPr txBox="1"/>
          <p:nvPr/>
        </p:nvSpPr>
        <p:spPr>
          <a:xfrm>
            <a:off x="4572000" y="3429000"/>
            <a:ext cx="301752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</a:pPr>
            <a:r>
              <a:rPr b="0" i="0" lang="en-US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Highest cost, pricey energy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</a:pPr>
            <a:r>
              <a:rPr b="0" i="0" lang="en-US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Medium carbon (0.35 kg/kWh)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</a:pPr>
            <a:r>
              <a:rPr b="0" i="0" lang="en-US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Fast to European customers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6"/>
          <p:cNvSpPr/>
          <p:nvPr/>
        </p:nvSpPr>
        <p:spPr>
          <a:xfrm>
            <a:off x="8046720" y="2194560"/>
            <a:ext cx="3474720" cy="2834640"/>
          </a:xfrm>
          <a:prstGeom prst="roundRect">
            <a:avLst>
              <a:gd fmla="val 2581" name="adj"/>
            </a:avLst>
          </a:prstGeom>
          <a:solidFill>
            <a:schemeClr val="lt2"/>
          </a:solidFill>
          <a:ln cap="flat" cmpd="sng" w="12700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" name="Google Shape;46;p6"/>
          <p:cNvSpPr/>
          <p:nvPr/>
        </p:nvSpPr>
        <p:spPr>
          <a:xfrm>
            <a:off x="8321040" y="2423160"/>
            <a:ext cx="457200" cy="457200"/>
          </a:xfrm>
          <a:prstGeom prst="ellipse">
            <a:avLst/>
          </a:prstGeom>
          <a:solidFill>
            <a:srgbClr val="2E8B57"/>
          </a:solidFill>
          <a:ln cap="flat" cmpd="sng" w="12700">
            <a:solidFill>
              <a:srgbClr val="2E8B5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" name="Google Shape;47;p6"/>
          <p:cNvSpPr txBox="1"/>
          <p:nvPr/>
        </p:nvSpPr>
        <p:spPr>
          <a:xfrm>
            <a:off x="8321040" y="242316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C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6"/>
          <p:cNvSpPr txBox="1"/>
          <p:nvPr/>
        </p:nvSpPr>
        <p:spPr>
          <a:xfrm>
            <a:off x="8961120" y="2423160"/>
            <a:ext cx="23774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Plant C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6"/>
          <p:cNvSpPr txBox="1"/>
          <p:nvPr/>
        </p:nvSpPr>
        <p:spPr>
          <a:xfrm>
            <a:off x="8321040" y="3017520"/>
            <a:ext cx="30175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300"/>
              <a:buFont typeface="Calibri"/>
              <a:buNone/>
            </a:pPr>
            <a:r>
              <a:rPr b="0" i="1" lang="en-US" sz="1300" u="none" cap="none" strike="noStrike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Quebec, Canada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6"/>
          <p:cNvSpPr txBox="1"/>
          <p:nvPr/>
        </p:nvSpPr>
        <p:spPr>
          <a:xfrm>
            <a:off x="8321040" y="3429000"/>
            <a:ext cx="301752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</a:pPr>
            <a:r>
              <a:rPr b="0" i="0" lang="en-US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Mid cost, cheap hydro power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</a:pPr>
            <a:r>
              <a:rPr b="0" i="0" lang="en-US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Very low carbon (0.04 kg/kWh)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</a:pPr>
            <a:r>
              <a:rPr b="0" i="0" lang="en-US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Small capacity; only plant for P6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6"/>
          <p:cNvSpPr txBox="1"/>
          <p:nvPr/>
        </p:nvSpPr>
        <p:spPr>
          <a:xfrm>
            <a:off x="548640" y="5303520"/>
            <a:ext cx="1106424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Choosing the cheapest plant for every order misses delivery dates and overloads plants. Choosing the greenest raises cost. Management needs the trade-off, and a fast re-plan when a plant loses capacity.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6"/>
          <p:cNvSpPr txBox="1"/>
          <p:nvPr>
            <p:ph idx="4294967295" type="sldNum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000" u="none" cap="none" strike="noStrike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000" u="none" cap="none" strike="noStrike">
              <a:solidFill>
                <a:schemeClr val="accent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7"/>
          <p:cNvSpPr txBox="1"/>
          <p:nvPr>
            <p:ph type="title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Cambria"/>
              <a:buNone/>
            </a:pPr>
            <a:r>
              <a:rPr b="1" lang="en-US" sz="3200">
                <a:solidFill>
                  <a:schemeClr val="dk2"/>
                </a:solidFill>
              </a:rPr>
              <a:t>Our approach: the solver decides, the LLM explains</a:t>
            </a:r>
            <a:endParaRPr sz="3200"/>
          </a:p>
        </p:txBody>
      </p:sp>
      <p:sp>
        <p:nvSpPr>
          <p:cNvPr id="59" name="Google Shape;59;p7"/>
          <p:cNvSpPr/>
          <p:nvPr/>
        </p:nvSpPr>
        <p:spPr>
          <a:xfrm>
            <a:off x="548640" y="1645920"/>
            <a:ext cx="1691640" cy="1737360"/>
          </a:xfrm>
          <a:prstGeom prst="roundRect">
            <a:avLst>
              <a:gd fmla="val 4324" name="adj"/>
            </a:avLst>
          </a:prstGeom>
          <a:solidFill>
            <a:schemeClr val="lt2"/>
          </a:solidFill>
          <a:ln cap="flat" cmpd="sng" w="12700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" name="Google Shape;60;p7"/>
          <p:cNvSpPr txBox="1"/>
          <p:nvPr/>
        </p:nvSpPr>
        <p:spPr>
          <a:xfrm>
            <a:off x="685800" y="1828800"/>
            <a:ext cx="14173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CSV data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7"/>
          <p:cNvSpPr txBox="1"/>
          <p:nvPr/>
        </p:nvSpPr>
        <p:spPr>
          <a:xfrm>
            <a:off x="685800" y="2514600"/>
            <a:ext cx="141732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 files, Annex B schema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7"/>
          <p:cNvSpPr/>
          <p:nvPr/>
        </p:nvSpPr>
        <p:spPr>
          <a:xfrm>
            <a:off x="2286000" y="2377440"/>
            <a:ext cx="137160" cy="274320"/>
          </a:xfrm>
          <a:prstGeom prst="rtTriangle">
            <a:avLst/>
          </a:prstGeom>
          <a:solidFill>
            <a:schemeClr val="accent4"/>
          </a:solidFill>
          <a:ln cap="flat" cmpd="sng" w="127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7"/>
          <p:cNvSpPr/>
          <p:nvPr/>
        </p:nvSpPr>
        <p:spPr>
          <a:xfrm>
            <a:off x="2468880" y="1645920"/>
            <a:ext cx="1691640" cy="1737360"/>
          </a:xfrm>
          <a:prstGeom prst="roundRect">
            <a:avLst>
              <a:gd fmla="val 4324" name="adj"/>
            </a:avLst>
          </a:prstGeom>
          <a:solidFill>
            <a:schemeClr val="lt2"/>
          </a:solidFill>
          <a:ln cap="flat" cmpd="sng" w="12700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" name="Google Shape;64;p7"/>
          <p:cNvSpPr txBox="1"/>
          <p:nvPr/>
        </p:nvSpPr>
        <p:spPr>
          <a:xfrm>
            <a:off x="2606040" y="1828800"/>
            <a:ext cx="14173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Validation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7"/>
          <p:cNvSpPr txBox="1"/>
          <p:nvPr/>
        </p:nvSpPr>
        <p:spPr>
          <a:xfrm>
            <a:off x="2606040" y="2514600"/>
            <a:ext cx="141732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Columns, units, routes, capability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7"/>
          <p:cNvSpPr/>
          <p:nvPr/>
        </p:nvSpPr>
        <p:spPr>
          <a:xfrm>
            <a:off x="4206240" y="2377440"/>
            <a:ext cx="137160" cy="274320"/>
          </a:xfrm>
          <a:prstGeom prst="rtTriangle">
            <a:avLst/>
          </a:prstGeom>
          <a:solidFill>
            <a:schemeClr val="accent4"/>
          </a:solidFill>
          <a:ln cap="flat" cmpd="sng" w="127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" name="Google Shape;67;p7"/>
          <p:cNvSpPr/>
          <p:nvPr/>
        </p:nvSpPr>
        <p:spPr>
          <a:xfrm>
            <a:off x="4389120" y="1645920"/>
            <a:ext cx="1691640" cy="1737360"/>
          </a:xfrm>
          <a:prstGeom prst="roundRect">
            <a:avLst>
              <a:gd fmla="val 4324" name="adj"/>
            </a:avLst>
          </a:prstGeom>
          <a:solidFill>
            <a:schemeClr val="dk2"/>
          </a:solidFill>
          <a:ln cap="flat" cmpd="sng" w="1270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" name="Google Shape;68;p7"/>
          <p:cNvSpPr txBox="1"/>
          <p:nvPr/>
        </p:nvSpPr>
        <p:spPr>
          <a:xfrm>
            <a:off x="4526280" y="1828800"/>
            <a:ext cx="14173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PuLP optimiser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7"/>
          <p:cNvSpPr txBox="1"/>
          <p:nvPr/>
        </p:nvSpPr>
        <p:spPr>
          <a:xfrm>
            <a:off x="4526280" y="2514600"/>
            <a:ext cx="141732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rPr>
              <a:t>One combined model, all orders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7"/>
          <p:cNvSpPr/>
          <p:nvPr/>
        </p:nvSpPr>
        <p:spPr>
          <a:xfrm>
            <a:off x="6126480" y="2377440"/>
            <a:ext cx="137160" cy="274320"/>
          </a:xfrm>
          <a:prstGeom prst="rtTriangle">
            <a:avLst/>
          </a:prstGeom>
          <a:solidFill>
            <a:schemeClr val="accent4"/>
          </a:solidFill>
          <a:ln cap="flat" cmpd="sng" w="127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7"/>
          <p:cNvSpPr/>
          <p:nvPr/>
        </p:nvSpPr>
        <p:spPr>
          <a:xfrm>
            <a:off x="6309360" y="1645920"/>
            <a:ext cx="1691640" cy="1737360"/>
          </a:xfrm>
          <a:prstGeom prst="roundRect">
            <a:avLst>
              <a:gd fmla="val 4324" name="adj"/>
            </a:avLst>
          </a:prstGeom>
          <a:solidFill>
            <a:schemeClr val="lt2"/>
          </a:solidFill>
          <a:ln cap="flat" cmpd="sng" w="12700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" name="Google Shape;72;p7"/>
          <p:cNvSpPr txBox="1"/>
          <p:nvPr/>
        </p:nvSpPr>
        <p:spPr>
          <a:xfrm>
            <a:off x="6446520" y="1828800"/>
            <a:ext cx="14173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20 Python tools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7"/>
          <p:cNvSpPr txBox="1"/>
          <p:nvPr/>
        </p:nvSpPr>
        <p:spPr>
          <a:xfrm>
            <a:off x="6446520" y="2514600"/>
            <a:ext cx="141732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Plans, what-ifs, trade-offs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7"/>
          <p:cNvSpPr/>
          <p:nvPr/>
        </p:nvSpPr>
        <p:spPr>
          <a:xfrm>
            <a:off x="8046720" y="2377440"/>
            <a:ext cx="137160" cy="274320"/>
          </a:xfrm>
          <a:prstGeom prst="rtTriangle">
            <a:avLst/>
          </a:prstGeom>
          <a:solidFill>
            <a:schemeClr val="accent4"/>
          </a:solidFill>
          <a:ln cap="flat" cmpd="sng" w="127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" name="Google Shape;75;p7"/>
          <p:cNvSpPr/>
          <p:nvPr/>
        </p:nvSpPr>
        <p:spPr>
          <a:xfrm>
            <a:off x="8229600" y="1645920"/>
            <a:ext cx="1691640" cy="1737360"/>
          </a:xfrm>
          <a:prstGeom prst="roundRect">
            <a:avLst>
              <a:gd fmla="val 4324" name="adj"/>
            </a:avLst>
          </a:prstGeom>
          <a:solidFill>
            <a:schemeClr val="lt2"/>
          </a:solidFill>
          <a:ln cap="flat" cmpd="sng" w="12700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" name="Google Shape;76;p7"/>
          <p:cNvSpPr txBox="1"/>
          <p:nvPr/>
        </p:nvSpPr>
        <p:spPr>
          <a:xfrm>
            <a:off x="8366760" y="1828800"/>
            <a:ext cx="14173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Gemini API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7"/>
          <p:cNvSpPr txBox="1"/>
          <p:nvPr/>
        </p:nvSpPr>
        <p:spPr>
          <a:xfrm>
            <a:off x="8366760" y="2514600"/>
            <a:ext cx="141732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Picks tools, writes the answer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7"/>
          <p:cNvSpPr/>
          <p:nvPr/>
        </p:nvSpPr>
        <p:spPr>
          <a:xfrm>
            <a:off x="9966960" y="2377440"/>
            <a:ext cx="137160" cy="274320"/>
          </a:xfrm>
          <a:prstGeom prst="rtTriangle">
            <a:avLst/>
          </a:prstGeom>
          <a:solidFill>
            <a:schemeClr val="accent4"/>
          </a:solidFill>
          <a:ln cap="flat" cmpd="sng" w="127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7"/>
          <p:cNvSpPr/>
          <p:nvPr/>
        </p:nvSpPr>
        <p:spPr>
          <a:xfrm>
            <a:off x="10149840" y="1645920"/>
            <a:ext cx="1691640" cy="1737360"/>
          </a:xfrm>
          <a:prstGeom prst="roundRect">
            <a:avLst>
              <a:gd fmla="val 4324" name="adj"/>
            </a:avLst>
          </a:prstGeom>
          <a:solidFill>
            <a:schemeClr val="lt2"/>
          </a:solidFill>
          <a:ln cap="flat" cmpd="sng" w="12700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" name="Google Shape;80;p7"/>
          <p:cNvSpPr txBox="1"/>
          <p:nvPr/>
        </p:nvSpPr>
        <p:spPr>
          <a:xfrm>
            <a:off x="10287000" y="1828800"/>
            <a:ext cx="14173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Streamlit UI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7"/>
          <p:cNvSpPr txBox="1"/>
          <p:nvPr/>
        </p:nvSpPr>
        <p:spPr>
          <a:xfrm>
            <a:off x="10287000" y="2514600"/>
            <a:ext cx="141732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Chat, plan, chart, traces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7"/>
          <p:cNvSpPr/>
          <p:nvPr/>
        </p:nvSpPr>
        <p:spPr>
          <a:xfrm>
            <a:off x="548640" y="3931920"/>
            <a:ext cx="457200" cy="457200"/>
          </a:xfrm>
          <a:prstGeom prst="ellipse">
            <a:avLst/>
          </a:prstGeom>
          <a:solidFill>
            <a:srgbClr val="2E8B57"/>
          </a:solidFill>
          <a:ln cap="flat" cmpd="sng" w="12700">
            <a:solidFill>
              <a:srgbClr val="2E8B5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" name="Google Shape;83;p7"/>
          <p:cNvSpPr txBox="1"/>
          <p:nvPr/>
        </p:nvSpPr>
        <p:spPr>
          <a:xfrm>
            <a:off x="548640" y="393192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7"/>
          <p:cNvSpPr txBox="1"/>
          <p:nvPr/>
        </p:nvSpPr>
        <p:spPr>
          <a:xfrm>
            <a:off x="1188720" y="3931920"/>
            <a:ext cx="29260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Numbers come only from code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7"/>
          <p:cNvSpPr txBox="1"/>
          <p:nvPr/>
        </p:nvSpPr>
        <p:spPr>
          <a:xfrm>
            <a:off x="1188720" y="4480560"/>
            <a:ext cx="292608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Plans, costs and carbon are computed by the solver. Gemini never invents or calculates numbers.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7"/>
          <p:cNvSpPr/>
          <p:nvPr/>
        </p:nvSpPr>
        <p:spPr>
          <a:xfrm>
            <a:off x="4297680" y="3931920"/>
            <a:ext cx="457200" cy="457200"/>
          </a:xfrm>
          <a:prstGeom prst="ellipse">
            <a:avLst/>
          </a:prstGeom>
          <a:solidFill>
            <a:srgbClr val="2E8B57"/>
          </a:solidFill>
          <a:ln cap="flat" cmpd="sng" w="12700">
            <a:solidFill>
              <a:srgbClr val="2E8B5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7"/>
          <p:cNvSpPr txBox="1"/>
          <p:nvPr/>
        </p:nvSpPr>
        <p:spPr>
          <a:xfrm>
            <a:off x="4297680" y="393192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7"/>
          <p:cNvSpPr txBox="1"/>
          <p:nvPr/>
        </p:nvSpPr>
        <p:spPr>
          <a:xfrm>
            <a:off x="4937760" y="3931920"/>
            <a:ext cx="29260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Simplest design that works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7"/>
          <p:cNvSpPr txBox="1"/>
          <p:nvPr/>
        </p:nvSpPr>
        <p:spPr>
          <a:xfrm>
            <a:off x="4937760" y="4480560"/>
            <a:ext cx="292608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One deterministic optimiser and one LLM loop. No extra agents where a fixed step is enough.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7"/>
          <p:cNvSpPr/>
          <p:nvPr/>
        </p:nvSpPr>
        <p:spPr>
          <a:xfrm>
            <a:off x="8046720" y="3931920"/>
            <a:ext cx="457200" cy="457200"/>
          </a:xfrm>
          <a:prstGeom prst="ellipse">
            <a:avLst/>
          </a:prstGeom>
          <a:solidFill>
            <a:srgbClr val="2E8B57"/>
          </a:solidFill>
          <a:ln cap="flat" cmpd="sng" w="12700">
            <a:solidFill>
              <a:srgbClr val="2E8B5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7"/>
          <p:cNvSpPr txBox="1"/>
          <p:nvPr/>
        </p:nvSpPr>
        <p:spPr>
          <a:xfrm>
            <a:off x="8046720" y="393192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7"/>
          <p:cNvSpPr txBox="1"/>
          <p:nvPr/>
        </p:nvSpPr>
        <p:spPr>
          <a:xfrm>
            <a:off x="8686800" y="3931920"/>
            <a:ext cx="29260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What-ifs never touch real data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7"/>
          <p:cNvSpPr txBox="1"/>
          <p:nvPr/>
        </p:nvSpPr>
        <p:spPr>
          <a:xfrm>
            <a:off x="8686800" y="4480560"/>
            <a:ext cx="292608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Every scenario runs on a deep copy in memory. The CSV files are never written.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7"/>
          <p:cNvSpPr txBox="1"/>
          <p:nvPr>
            <p:ph idx="4294967295" type="sldNum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000" u="none" cap="none" strike="noStrike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000" u="none" cap="none" strike="noStrike">
              <a:solidFill>
                <a:schemeClr val="accent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8"/>
          <p:cNvSpPr txBox="1"/>
          <p:nvPr>
            <p:ph type="title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Cambria"/>
              <a:buNone/>
            </a:pPr>
            <a:r>
              <a:rPr b="1" lang="en-US" sz="3200">
                <a:solidFill>
                  <a:schemeClr val="dk2"/>
                </a:solidFill>
              </a:rPr>
              <a:t>Data and validation before any optimisation</a:t>
            </a:r>
            <a:endParaRPr sz="3200"/>
          </a:p>
        </p:txBody>
      </p:sp>
      <p:sp>
        <p:nvSpPr>
          <p:cNvPr id="101" name="Google Shape;101;p8"/>
          <p:cNvSpPr/>
          <p:nvPr/>
        </p:nvSpPr>
        <p:spPr>
          <a:xfrm>
            <a:off x="548640" y="1371600"/>
            <a:ext cx="5486400" cy="1005840"/>
          </a:xfrm>
          <a:prstGeom prst="roundRect">
            <a:avLst>
              <a:gd fmla="val 7273" name="adj"/>
            </a:avLst>
          </a:prstGeom>
          <a:solidFill>
            <a:schemeClr val="lt2"/>
          </a:solidFill>
          <a:ln cap="flat" cmpd="sng" w="12700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" name="Google Shape;102;p8"/>
          <p:cNvSpPr txBox="1"/>
          <p:nvPr/>
        </p:nvSpPr>
        <p:spPr>
          <a:xfrm>
            <a:off x="777240" y="1481328"/>
            <a:ext cx="5029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orders.csv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8"/>
          <p:cNvSpPr txBox="1"/>
          <p:nvPr/>
        </p:nvSpPr>
        <p:spPr>
          <a:xfrm>
            <a:off x="777240" y="1828800"/>
            <a:ext cx="50292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order_id, product, qty, destination, due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8"/>
          <p:cNvSpPr/>
          <p:nvPr/>
        </p:nvSpPr>
        <p:spPr>
          <a:xfrm>
            <a:off x="548640" y="2560320"/>
            <a:ext cx="5486400" cy="1005840"/>
          </a:xfrm>
          <a:prstGeom prst="roundRect">
            <a:avLst>
              <a:gd fmla="val 7273" name="adj"/>
            </a:avLst>
          </a:prstGeom>
          <a:solidFill>
            <a:schemeClr val="lt2"/>
          </a:solidFill>
          <a:ln cap="flat" cmpd="sng" w="12700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8"/>
          <p:cNvSpPr txBox="1"/>
          <p:nvPr/>
        </p:nvSpPr>
        <p:spPr>
          <a:xfrm>
            <a:off x="777240" y="2670048"/>
            <a:ext cx="5029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plants.csv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8"/>
          <p:cNvSpPr txBox="1"/>
          <p:nvPr/>
        </p:nvSpPr>
        <p:spPr>
          <a:xfrm>
            <a:off x="777240" y="3017520"/>
            <a:ext cx="50292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plant, product, weekly_capacity, unit_cost, energy_kwh_per_unit, carbon_kg_per_kwh (+ energy price)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8"/>
          <p:cNvSpPr/>
          <p:nvPr/>
        </p:nvSpPr>
        <p:spPr>
          <a:xfrm>
            <a:off x="548640" y="3749040"/>
            <a:ext cx="5486400" cy="1005840"/>
          </a:xfrm>
          <a:prstGeom prst="roundRect">
            <a:avLst>
              <a:gd fmla="val 7273" name="adj"/>
            </a:avLst>
          </a:prstGeom>
          <a:solidFill>
            <a:schemeClr val="lt2"/>
          </a:solidFill>
          <a:ln cap="flat" cmpd="sng" w="12700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" name="Google Shape;108;p8"/>
          <p:cNvSpPr txBox="1"/>
          <p:nvPr/>
        </p:nvSpPr>
        <p:spPr>
          <a:xfrm>
            <a:off x="777240" y="3858768"/>
            <a:ext cx="5029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transport_duties.csv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8"/>
          <p:cNvSpPr txBox="1"/>
          <p:nvPr/>
        </p:nvSpPr>
        <p:spPr>
          <a:xfrm>
            <a:off x="777240" y="4206240"/>
            <a:ext cx="50292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plant, destination, transport_cost_per_unit, transit_days, duty_pct, carbon_kg_per_unit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8"/>
          <p:cNvSpPr/>
          <p:nvPr/>
        </p:nvSpPr>
        <p:spPr>
          <a:xfrm>
            <a:off x="548640" y="4937760"/>
            <a:ext cx="5486400" cy="1005840"/>
          </a:xfrm>
          <a:prstGeom prst="roundRect">
            <a:avLst>
              <a:gd fmla="val 7273" name="adj"/>
            </a:avLst>
          </a:prstGeom>
          <a:solidFill>
            <a:schemeClr val="lt2"/>
          </a:solidFill>
          <a:ln cap="flat" cmpd="sng" w="12700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8"/>
          <p:cNvSpPr txBox="1"/>
          <p:nvPr/>
        </p:nvSpPr>
        <p:spPr>
          <a:xfrm>
            <a:off x="777240" y="5047488"/>
            <a:ext cx="5029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capacity_events.csv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8"/>
          <p:cNvSpPr txBox="1"/>
          <p:nvPr/>
        </p:nvSpPr>
        <p:spPr>
          <a:xfrm>
            <a:off x="777240" y="5394960"/>
            <a:ext cx="50292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event_id, plant, from_date, to_date, capacity_loss_pct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8"/>
          <p:cNvSpPr txBox="1"/>
          <p:nvPr/>
        </p:nvSpPr>
        <p:spPr>
          <a:xfrm>
            <a:off x="6492240" y="1371600"/>
            <a:ext cx="51206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Checks we run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8"/>
          <p:cNvSpPr txBox="1"/>
          <p:nvPr/>
        </p:nvSpPr>
        <p:spPr>
          <a:xfrm>
            <a:off x="6492240" y="1920240"/>
            <a:ext cx="512064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Char char="•"/>
            </a:pPr>
            <a:r>
              <a:rPr b="0" i="0" lang="en-US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Required columns exist; extra columns allowed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Char char="•"/>
            </a:pPr>
            <a:r>
              <a:rPr b="0" i="0" lang="en-US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Quantities and capacities positive; costs, carbon, transit non-negative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Char char="•"/>
            </a:pPr>
            <a:r>
              <a:rPr b="0" i="0" lang="en-US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Percent or fraction detected per column (30 vs 0.30)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Char char="•"/>
            </a:pPr>
            <a:r>
              <a:rPr b="0" i="0" lang="en-US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Every order's product is made somewhere, with a route to its destination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Char char="•"/>
            </a:pPr>
            <a:r>
              <a:rPr b="0" i="0" lang="en-US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Duplicate or conflicting rows are rejected with a clear error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Char char="•"/>
            </a:pPr>
            <a:r>
              <a:rPr b="0" i="0" lang="en-US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Bad orders are reported as INVALID_INPUT, never silently dropped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8"/>
          <p:cNvSpPr txBox="1"/>
          <p:nvPr>
            <p:ph idx="4294967295" type="sldNum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000" u="none" cap="none" strike="noStrike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000" u="none" cap="none" strike="noStrike">
              <a:solidFill>
                <a:schemeClr val="accent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9"/>
          <p:cNvSpPr txBox="1"/>
          <p:nvPr>
            <p:ph type="title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Cambria"/>
              <a:buNone/>
            </a:pPr>
            <a:r>
              <a:rPr b="1" lang="en-US" sz="3200">
                <a:solidFill>
                  <a:schemeClr val="dk2"/>
                </a:solidFill>
              </a:rPr>
              <a:t>Cost and carbon model for every order and plant</a:t>
            </a:r>
            <a:endParaRPr sz="3200"/>
          </a:p>
        </p:txBody>
      </p:sp>
      <p:sp>
        <p:nvSpPr>
          <p:cNvPr id="122" name="Google Shape;122;p9"/>
          <p:cNvSpPr/>
          <p:nvPr/>
        </p:nvSpPr>
        <p:spPr>
          <a:xfrm>
            <a:off x="548640" y="1371600"/>
            <a:ext cx="5440680" cy="3566160"/>
          </a:xfrm>
          <a:prstGeom prst="roundRect">
            <a:avLst>
              <a:gd fmla="val 2051" name="adj"/>
            </a:avLst>
          </a:prstGeom>
          <a:solidFill>
            <a:schemeClr val="lt2"/>
          </a:solidFill>
          <a:ln cap="flat" cmpd="sng" w="12700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9"/>
          <p:cNvSpPr txBox="1"/>
          <p:nvPr/>
        </p:nvSpPr>
        <p:spPr>
          <a:xfrm>
            <a:off x="868680" y="1600200"/>
            <a:ext cx="48463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3A5F"/>
              </a:buClr>
              <a:buSzPts val="2400"/>
              <a:buFont typeface="Calibri"/>
              <a:buNone/>
            </a:pPr>
            <a:r>
              <a:rPr b="1" i="0" lang="en-US" sz="2400" u="none" cap="none" strike="noStrike">
                <a:solidFill>
                  <a:srgbClr val="1F3A5F"/>
                </a:solidFill>
                <a:latin typeface="Calibri"/>
                <a:ea typeface="Calibri"/>
                <a:cs typeface="Calibri"/>
                <a:sym typeface="Calibri"/>
              </a:rPr>
              <a:t>Landed cost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9"/>
          <p:cNvSpPr txBox="1"/>
          <p:nvPr/>
        </p:nvSpPr>
        <p:spPr>
          <a:xfrm>
            <a:off x="868680" y="2103120"/>
            <a:ext cx="48463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Calibri"/>
              <a:buNone/>
            </a:pPr>
            <a:r>
              <a:rPr b="0" i="1" lang="en-US" sz="15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production + energy + transport + import duty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9"/>
          <p:cNvSpPr txBox="1"/>
          <p:nvPr/>
        </p:nvSpPr>
        <p:spPr>
          <a:xfrm>
            <a:off x="868680" y="2697480"/>
            <a:ext cx="4846320" cy="2103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Char char="•"/>
            </a:pPr>
            <a:r>
              <a:rPr b="0" i="0" lang="en-US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production = qty × unit_cost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Char char="•"/>
            </a:pPr>
            <a:r>
              <a:rPr b="0" i="0" lang="en-US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energy = qty × kWh/unit × energy price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Char char="•"/>
            </a:pPr>
            <a:r>
              <a:rPr b="0" i="0" lang="en-US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transport = qty × transport cost/unit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Char char="•"/>
            </a:pPr>
            <a:r>
              <a:rPr b="0" i="0" lang="en-US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duty = duty % × (production + energy)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9"/>
          <p:cNvSpPr/>
          <p:nvPr/>
        </p:nvSpPr>
        <p:spPr>
          <a:xfrm>
            <a:off x="6172200" y="1371600"/>
            <a:ext cx="5440680" cy="3566160"/>
          </a:xfrm>
          <a:prstGeom prst="roundRect">
            <a:avLst>
              <a:gd fmla="val 2051" name="adj"/>
            </a:avLst>
          </a:prstGeom>
          <a:solidFill>
            <a:schemeClr val="lt2"/>
          </a:solidFill>
          <a:ln cap="flat" cmpd="sng" w="12700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9"/>
          <p:cNvSpPr txBox="1"/>
          <p:nvPr/>
        </p:nvSpPr>
        <p:spPr>
          <a:xfrm>
            <a:off x="6492240" y="1600200"/>
            <a:ext cx="48463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8B57"/>
              </a:buClr>
              <a:buSzPts val="2400"/>
              <a:buFont typeface="Calibri"/>
              <a:buNone/>
            </a:pPr>
            <a:r>
              <a:rPr b="1" i="0" lang="en-US" sz="2400" u="none" cap="none" strike="noStrike">
                <a:solidFill>
                  <a:srgbClr val="2E8B57"/>
                </a:solidFill>
                <a:latin typeface="Calibri"/>
                <a:ea typeface="Calibri"/>
                <a:cs typeface="Calibri"/>
                <a:sym typeface="Calibri"/>
              </a:rPr>
              <a:t>Carbon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9"/>
          <p:cNvSpPr txBox="1"/>
          <p:nvPr/>
        </p:nvSpPr>
        <p:spPr>
          <a:xfrm>
            <a:off x="6492240" y="2103120"/>
            <a:ext cx="48463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Calibri"/>
              <a:buNone/>
            </a:pPr>
            <a:r>
              <a:rPr b="0" i="1" lang="en-US" sz="15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manufacturing + transport emissions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9"/>
          <p:cNvSpPr txBox="1"/>
          <p:nvPr/>
        </p:nvSpPr>
        <p:spPr>
          <a:xfrm>
            <a:off x="6492240" y="2697480"/>
            <a:ext cx="4846320" cy="2103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Char char="•"/>
            </a:pPr>
            <a:r>
              <a:rPr b="0" i="0" lang="en-US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manufacturing = qty × kWh/unit × kg CO2e/kWh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Char char="•"/>
            </a:pPr>
            <a:r>
              <a:rPr b="0" i="0" lang="en-US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transport = qty × transport kg CO2e/unit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Char char="•"/>
            </a:pPr>
            <a:r>
              <a:rPr b="0" i="0" lang="en-US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reported in kg per order, tonnes in total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9"/>
          <p:cNvSpPr txBox="1"/>
          <p:nvPr/>
        </p:nvSpPr>
        <p:spPr>
          <a:xfrm>
            <a:off x="548640" y="5257800"/>
            <a:ext cx="110642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Delivery: an order ships on the Friday of the week its last unit is built. Arrival = ship date + transit days. Late if arrival is after the due date.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9"/>
          <p:cNvSpPr txBox="1"/>
          <p:nvPr>
            <p:ph idx="4294967295" type="sldNum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000" u="none" cap="none" strike="noStrike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000" u="none" cap="none" strike="noStrike">
              <a:solidFill>
                <a:schemeClr val="accent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0"/>
          <p:cNvSpPr txBox="1"/>
          <p:nvPr>
            <p:ph type="title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Cambria"/>
              <a:buNone/>
            </a:pPr>
            <a:r>
              <a:rPr b="1" lang="en-US" sz="3200">
                <a:solidFill>
                  <a:schemeClr val="dk2"/>
                </a:solidFill>
              </a:rPr>
              <a:t>Why one combined model instead of order by order</a:t>
            </a:r>
            <a:endParaRPr sz="3200"/>
          </a:p>
        </p:txBody>
      </p:sp>
      <p:sp>
        <p:nvSpPr>
          <p:cNvPr id="138" name="Google Shape;138;p10"/>
          <p:cNvSpPr/>
          <p:nvPr/>
        </p:nvSpPr>
        <p:spPr>
          <a:xfrm>
            <a:off x="548640" y="1371600"/>
            <a:ext cx="5440680" cy="3291840"/>
          </a:xfrm>
          <a:prstGeom prst="roundRect">
            <a:avLst>
              <a:gd fmla="val 2222" name="adj"/>
            </a:avLst>
          </a:prstGeom>
          <a:solidFill>
            <a:schemeClr val="lt2"/>
          </a:solidFill>
          <a:ln cap="flat" cmpd="sng" w="12700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10"/>
          <p:cNvSpPr txBox="1"/>
          <p:nvPr/>
        </p:nvSpPr>
        <p:spPr>
          <a:xfrm>
            <a:off x="868680" y="1554480"/>
            <a:ext cx="48463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392B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Order by order (greedy)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10"/>
          <p:cNvSpPr txBox="1"/>
          <p:nvPr/>
        </p:nvSpPr>
        <p:spPr>
          <a:xfrm>
            <a:off x="868680" y="2194560"/>
            <a:ext cx="484632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Char char="•"/>
            </a:pPr>
            <a:r>
              <a:rPr b="0" i="0" lang="en-US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Each order grabs its cheapest plant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Char char="•"/>
            </a:pPr>
            <a:r>
              <a:rPr b="0" i="0" lang="en-US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Early orders use up capacity later orders need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Char char="•"/>
            </a:pPr>
            <a:r>
              <a:rPr b="0" i="0" lang="en-US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Decisions cannot be undone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Char char="•"/>
            </a:pPr>
            <a:r>
              <a:rPr b="0" i="0" lang="en-US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Ignores delivery dates unless checked one at a time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10"/>
          <p:cNvSpPr/>
          <p:nvPr/>
        </p:nvSpPr>
        <p:spPr>
          <a:xfrm>
            <a:off x="6172200" y="1371600"/>
            <a:ext cx="5440680" cy="3291840"/>
          </a:xfrm>
          <a:prstGeom prst="roundRect">
            <a:avLst>
              <a:gd fmla="val 2222" name="adj"/>
            </a:avLst>
          </a:prstGeom>
          <a:solidFill>
            <a:schemeClr val="lt2"/>
          </a:solidFill>
          <a:ln cap="flat" cmpd="sng" w="12700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" name="Google Shape;142;p10"/>
          <p:cNvSpPr txBox="1"/>
          <p:nvPr/>
        </p:nvSpPr>
        <p:spPr>
          <a:xfrm>
            <a:off x="6492240" y="1554480"/>
            <a:ext cx="48463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8B57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2E8B57"/>
                </a:solidFill>
                <a:latin typeface="Calibri"/>
                <a:ea typeface="Calibri"/>
                <a:cs typeface="Calibri"/>
                <a:sym typeface="Calibri"/>
              </a:rPr>
              <a:t>Combined optimisation (ours)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10"/>
          <p:cNvSpPr txBox="1"/>
          <p:nvPr/>
        </p:nvSpPr>
        <p:spPr>
          <a:xfrm>
            <a:off x="6492240" y="2194560"/>
            <a:ext cx="484632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Char char="•"/>
            </a:pPr>
            <a:r>
              <a:rPr b="0" i="0" lang="en-US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All 150 orders compete for capacity in one model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Char char="•"/>
            </a:pPr>
            <a:r>
              <a:rPr b="0" i="0" lang="en-US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Solver sees every trade-off at once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Char char="•"/>
            </a:pPr>
            <a:r>
              <a:rPr b="0" i="0" lang="en-US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Respects capacity, eligibility and due dates together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Char char="•"/>
            </a:pPr>
            <a:r>
              <a:rPr b="0" i="0" lang="en-US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Re-plans everything in about 2 seconds after a change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10"/>
          <p:cNvSpPr txBox="1"/>
          <p:nvPr/>
        </p:nvSpPr>
        <p:spPr>
          <a:xfrm>
            <a:off x="548640" y="4983480"/>
            <a:ext cx="1106424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On our data the greedy cheapest-plant rule leaves 106 of 150 orders late. The combined plan leaves 2 late, and both of those cannot reach their due date from any plant with free capacity.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10"/>
          <p:cNvSpPr txBox="1"/>
          <p:nvPr>
            <p:ph idx="4294967295" type="sldNum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000" u="none" cap="none" strike="noStrike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000" u="none" cap="none" strike="noStrike">
              <a:solidFill>
                <a:schemeClr val="accent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11"/>
          <p:cNvSpPr txBox="1"/>
          <p:nvPr>
            <p:ph type="title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Cambria"/>
              <a:buNone/>
            </a:pPr>
            <a:r>
              <a:rPr b="1" lang="en-US" sz="3200">
                <a:solidFill>
                  <a:schemeClr val="dk2"/>
                </a:solidFill>
              </a:rPr>
              <a:t>How we use the Gemini API: function calling</a:t>
            </a:r>
            <a:endParaRPr sz="3200"/>
          </a:p>
        </p:txBody>
      </p:sp>
      <p:sp>
        <p:nvSpPr>
          <p:cNvPr id="152" name="Google Shape;152;p11"/>
          <p:cNvSpPr/>
          <p:nvPr/>
        </p:nvSpPr>
        <p:spPr>
          <a:xfrm>
            <a:off x="548640" y="1417320"/>
            <a:ext cx="457200" cy="457200"/>
          </a:xfrm>
          <a:prstGeom prst="ellipse">
            <a:avLst/>
          </a:prstGeom>
          <a:solidFill>
            <a:srgbClr val="1F3A5F"/>
          </a:solidFill>
          <a:ln cap="flat" cmpd="sng" w="12700">
            <a:solidFill>
              <a:srgbClr val="1F3A5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11"/>
          <p:cNvSpPr txBox="1"/>
          <p:nvPr/>
        </p:nvSpPr>
        <p:spPr>
          <a:xfrm>
            <a:off x="548640" y="141732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11"/>
          <p:cNvSpPr txBox="1"/>
          <p:nvPr/>
        </p:nvSpPr>
        <p:spPr>
          <a:xfrm>
            <a:off x="1188720" y="1325880"/>
            <a:ext cx="42062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User asks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11"/>
          <p:cNvSpPr txBox="1"/>
          <p:nvPr/>
        </p:nvSpPr>
        <p:spPr>
          <a:xfrm>
            <a:off x="1188720" y="1691640"/>
            <a:ext cx="49377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"Plant B loses 30% capacity. Re-plan."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11"/>
          <p:cNvSpPr/>
          <p:nvPr/>
        </p:nvSpPr>
        <p:spPr>
          <a:xfrm>
            <a:off x="548640" y="2331720"/>
            <a:ext cx="457200" cy="457200"/>
          </a:xfrm>
          <a:prstGeom prst="ellipse">
            <a:avLst/>
          </a:prstGeom>
          <a:solidFill>
            <a:srgbClr val="1F3A5F"/>
          </a:solidFill>
          <a:ln cap="flat" cmpd="sng" w="12700">
            <a:solidFill>
              <a:srgbClr val="1F3A5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11"/>
          <p:cNvSpPr txBox="1"/>
          <p:nvPr/>
        </p:nvSpPr>
        <p:spPr>
          <a:xfrm>
            <a:off x="548640" y="233172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11"/>
          <p:cNvSpPr txBox="1"/>
          <p:nvPr/>
        </p:nvSpPr>
        <p:spPr>
          <a:xfrm>
            <a:off x="1188720" y="2240280"/>
            <a:ext cx="42062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Gemini chooses a tool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11"/>
          <p:cNvSpPr txBox="1"/>
          <p:nvPr/>
        </p:nvSpPr>
        <p:spPr>
          <a:xfrm>
            <a:off x="1188720" y="2606040"/>
            <a:ext cx="49377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Gets the question + 20 tool names, descriptions and parameters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11"/>
          <p:cNvSpPr/>
          <p:nvPr/>
        </p:nvSpPr>
        <p:spPr>
          <a:xfrm>
            <a:off x="548640" y="3246120"/>
            <a:ext cx="457200" cy="457200"/>
          </a:xfrm>
          <a:prstGeom prst="ellipse">
            <a:avLst/>
          </a:prstGeom>
          <a:solidFill>
            <a:srgbClr val="2E8B57"/>
          </a:solidFill>
          <a:ln cap="flat" cmpd="sng" w="12700">
            <a:solidFill>
              <a:srgbClr val="2E8B5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" name="Google Shape;161;p11"/>
          <p:cNvSpPr txBox="1"/>
          <p:nvPr/>
        </p:nvSpPr>
        <p:spPr>
          <a:xfrm>
            <a:off x="548640" y="324612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11"/>
          <p:cNvSpPr txBox="1"/>
          <p:nvPr/>
        </p:nvSpPr>
        <p:spPr>
          <a:xfrm>
            <a:off x="1188720" y="3154680"/>
            <a:ext cx="42062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Python runs it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11"/>
          <p:cNvSpPr txBox="1"/>
          <p:nvPr/>
        </p:nvSpPr>
        <p:spPr>
          <a:xfrm>
            <a:off x="1188720" y="3520440"/>
            <a:ext cx="49377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simulate_capacity_loss(plant='B', loss_pct=30) on a copy of the data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11"/>
          <p:cNvSpPr/>
          <p:nvPr/>
        </p:nvSpPr>
        <p:spPr>
          <a:xfrm>
            <a:off x="548640" y="4160520"/>
            <a:ext cx="457200" cy="457200"/>
          </a:xfrm>
          <a:prstGeom prst="ellipse">
            <a:avLst/>
          </a:prstGeom>
          <a:solidFill>
            <a:srgbClr val="1F3A5F"/>
          </a:solidFill>
          <a:ln cap="flat" cmpd="sng" w="12700">
            <a:solidFill>
              <a:srgbClr val="1F3A5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"/>
          <p:cNvSpPr txBox="1"/>
          <p:nvPr/>
        </p:nvSpPr>
        <p:spPr>
          <a:xfrm>
            <a:off x="548640" y="416052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11"/>
          <p:cNvSpPr txBox="1"/>
          <p:nvPr/>
        </p:nvSpPr>
        <p:spPr>
          <a:xfrm>
            <a:off x="1188720" y="4069080"/>
            <a:ext cx="42062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Result goes back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11"/>
          <p:cNvSpPr txBox="1"/>
          <p:nvPr/>
        </p:nvSpPr>
        <p:spPr>
          <a:xfrm>
            <a:off x="1188720" y="4434840"/>
            <a:ext cx="49377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JSON with cost, carbon, late orders and orders moved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11"/>
          <p:cNvSpPr/>
          <p:nvPr/>
        </p:nvSpPr>
        <p:spPr>
          <a:xfrm>
            <a:off x="548640" y="5074920"/>
            <a:ext cx="457200" cy="457200"/>
          </a:xfrm>
          <a:prstGeom prst="ellipse">
            <a:avLst/>
          </a:prstGeom>
          <a:solidFill>
            <a:srgbClr val="1F3A5F"/>
          </a:solidFill>
          <a:ln cap="flat" cmpd="sng" w="12700">
            <a:solidFill>
              <a:srgbClr val="1F3A5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" name="Google Shape;169;p11"/>
          <p:cNvSpPr txBox="1"/>
          <p:nvPr/>
        </p:nvSpPr>
        <p:spPr>
          <a:xfrm>
            <a:off x="548640" y="507492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11"/>
          <p:cNvSpPr txBox="1"/>
          <p:nvPr/>
        </p:nvSpPr>
        <p:spPr>
          <a:xfrm>
            <a:off x="1188720" y="4983480"/>
            <a:ext cx="42062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Gemini answers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11"/>
          <p:cNvSpPr txBox="1"/>
          <p:nvPr/>
        </p:nvSpPr>
        <p:spPr>
          <a:xfrm>
            <a:off x="1188720" y="5349240"/>
            <a:ext cx="49377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Plain English, using only numbers from the tool result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11"/>
          <p:cNvSpPr/>
          <p:nvPr/>
        </p:nvSpPr>
        <p:spPr>
          <a:xfrm>
            <a:off x="6583680" y="1325880"/>
            <a:ext cx="5029200" cy="4572000"/>
          </a:xfrm>
          <a:prstGeom prst="roundRect">
            <a:avLst>
              <a:gd fmla="val 1600" name="adj"/>
            </a:avLst>
          </a:prstGeom>
          <a:solidFill>
            <a:schemeClr val="lt2"/>
          </a:solidFill>
          <a:ln cap="flat" cmpd="sng" w="12700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" name="Google Shape;173;p11"/>
          <p:cNvSpPr txBox="1"/>
          <p:nvPr/>
        </p:nvSpPr>
        <p:spPr>
          <a:xfrm>
            <a:off x="6858000" y="1508760"/>
            <a:ext cx="4572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Guard rails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11"/>
          <p:cNvSpPr txBox="1"/>
          <p:nvPr/>
        </p:nvSpPr>
        <p:spPr>
          <a:xfrm>
            <a:off x="6858000" y="2011680"/>
            <a:ext cx="4572000" cy="3749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</a:pPr>
            <a:r>
              <a:rPr b="0" i="0" lang="en-US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System prompt: never invent numbers, never create allocations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</a:pPr>
            <a:r>
              <a:rPr b="0" i="0" lang="en-US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Faithfulness check: every number in the answer must match a tool result, otherwise the UI warns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</a:pPr>
            <a:r>
              <a:rPr b="0" i="0" lang="en-US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Trace saved per question: steps, tools, inputs, outputs, LLM calls, tokens, latency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</a:pPr>
            <a:r>
              <a:rPr b="0" i="0" lang="en-US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Refuses rule-breaking requests (e.g. a plant that cannot make the product)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</a:pPr>
            <a:r>
              <a:rPr b="0" i="0" lang="en-US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Asks a clarifying question when the request is ambiguous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</a:pPr>
            <a:r>
              <a:rPr b="0" i="0" lang="en-US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Mock mode runs the pipeline without an API key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11"/>
          <p:cNvSpPr txBox="1"/>
          <p:nvPr>
            <p:ph idx="4294967295" type="sldNum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000" u="none" cap="none" strike="noStrike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000" u="none" cap="none" strike="noStrike">
              <a:solidFill>
                <a:schemeClr val="accent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"/>
          <p:cNvSpPr txBox="1"/>
          <p:nvPr>
            <p:ph type="title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Cambria"/>
              <a:buNone/>
            </a:pPr>
            <a:r>
              <a:rPr b="1" lang="en-US" sz="3200">
                <a:solidFill>
                  <a:schemeClr val="dk2"/>
                </a:solidFill>
              </a:rPr>
              <a:t>20 predefined tools Gemini can call</a:t>
            </a:r>
            <a:endParaRPr sz="3200"/>
          </a:p>
        </p:txBody>
      </p:sp>
      <p:sp>
        <p:nvSpPr>
          <p:cNvPr id="182" name="Google Shape;182;p12"/>
          <p:cNvSpPr/>
          <p:nvPr/>
        </p:nvSpPr>
        <p:spPr>
          <a:xfrm>
            <a:off x="548640" y="1371600"/>
            <a:ext cx="2651760" cy="4206240"/>
          </a:xfrm>
          <a:prstGeom prst="roundRect">
            <a:avLst>
              <a:gd fmla="val 2759" name="adj"/>
            </a:avLst>
          </a:prstGeom>
          <a:solidFill>
            <a:schemeClr val="lt2"/>
          </a:solidFill>
          <a:ln cap="flat" cmpd="sng" w="12700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3" name="Google Shape;183;p12"/>
          <p:cNvSpPr txBox="1"/>
          <p:nvPr/>
        </p:nvSpPr>
        <p:spPr>
          <a:xfrm>
            <a:off x="777240" y="1554480"/>
            <a:ext cx="2286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3A5F"/>
              </a:buClr>
              <a:buSzPts val="1700"/>
              <a:buFont typeface="Calibri"/>
              <a:buNone/>
            </a:pPr>
            <a:r>
              <a:rPr b="1" i="0" lang="en-US" sz="1700" u="none" cap="none" strike="noStrike">
                <a:solidFill>
                  <a:srgbClr val="1F3A5F"/>
                </a:solidFill>
                <a:latin typeface="Calibri"/>
                <a:ea typeface="Calibri"/>
                <a:cs typeface="Calibri"/>
                <a:sym typeface="Calibri"/>
              </a:rPr>
              <a:t>Look-ups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12"/>
          <p:cNvSpPr txBox="1"/>
          <p:nvPr/>
        </p:nvSpPr>
        <p:spPr>
          <a:xfrm>
            <a:off x="777240" y="2103120"/>
            <a:ext cx="2331720" cy="3383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ourier New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get_plan_summary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ourier New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explain_order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ourier New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list_late_orders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ourier New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list_unallocated_orders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ourier New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list_orders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ourier New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plant_utilisation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ourier New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list_capacity_events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ourier New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get_data_overview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12"/>
          <p:cNvSpPr/>
          <p:nvPr/>
        </p:nvSpPr>
        <p:spPr>
          <a:xfrm>
            <a:off x="3383280" y="1371600"/>
            <a:ext cx="2651760" cy="4206240"/>
          </a:xfrm>
          <a:prstGeom prst="roundRect">
            <a:avLst>
              <a:gd fmla="val 2759" name="adj"/>
            </a:avLst>
          </a:prstGeom>
          <a:solidFill>
            <a:schemeClr val="lt2"/>
          </a:solidFill>
          <a:ln cap="flat" cmpd="sng" w="12700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" name="Google Shape;186;p12"/>
          <p:cNvSpPr txBox="1"/>
          <p:nvPr/>
        </p:nvSpPr>
        <p:spPr>
          <a:xfrm>
            <a:off x="3611880" y="1554480"/>
            <a:ext cx="2286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8B57"/>
              </a:buClr>
              <a:buSzPts val="1700"/>
              <a:buFont typeface="Calibri"/>
              <a:buNone/>
            </a:pPr>
            <a:r>
              <a:rPr b="1" i="0" lang="en-US" sz="1700" u="none" cap="none" strike="noStrike">
                <a:solidFill>
                  <a:srgbClr val="2E8B57"/>
                </a:solidFill>
                <a:latin typeface="Calibri"/>
                <a:ea typeface="Calibri"/>
                <a:cs typeface="Calibri"/>
                <a:sym typeface="Calibri"/>
              </a:rPr>
              <a:t>Trade-offs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12"/>
          <p:cNvSpPr txBox="1"/>
          <p:nvPr/>
        </p:nvSpPr>
        <p:spPr>
          <a:xfrm>
            <a:off x="3611880" y="2103120"/>
            <a:ext cx="2331720" cy="3383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ourier New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cheapest_on_time_plan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ourier New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carbon_cut_cost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ourier New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tradeoff_frontier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ourier New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compare_weight_settings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12"/>
          <p:cNvSpPr/>
          <p:nvPr/>
        </p:nvSpPr>
        <p:spPr>
          <a:xfrm>
            <a:off x="6217920" y="1371600"/>
            <a:ext cx="2651760" cy="4206240"/>
          </a:xfrm>
          <a:prstGeom prst="roundRect">
            <a:avLst>
              <a:gd fmla="val 2759" name="adj"/>
            </a:avLst>
          </a:prstGeom>
          <a:solidFill>
            <a:schemeClr val="lt2"/>
          </a:solidFill>
          <a:ln cap="flat" cmpd="sng" w="12700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2"/>
          <p:cNvSpPr txBox="1"/>
          <p:nvPr/>
        </p:nvSpPr>
        <p:spPr>
          <a:xfrm>
            <a:off x="6446520" y="1554480"/>
            <a:ext cx="2286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8E04"/>
              </a:buClr>
              <a:buSzPts val="1700"/>
              <a:buFont typeface="Calibri"/>
              <a:buNone/>
            </a:pPr>
            <a:r>
              <a:rPr b="1" i="0" lang="en-US" sz="1700" u="none" cap="none" strike="noStrike">
                <a:solidFill>
                  <a:srgbClr val="D98E04"/>
                </a:solidFill>
                <a:latin typeface="Calibri"/>
                <a:ea typeface="Calibri"/>
                <a:cs typeface="Calibri"/>
                <a:sym typeface="Calibri"/>
              </a:rPr>
              <a:t>What-ifs (on a copy)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12"/>
          <p:cNvSpPr txBox="1"/>
          <p:nvPr/>
        </p:nvSpPr>
        <p:spPr>
          <a:xfrm>
            <a:off x="6446520" y="2103120"/>
            <a:ext cx="2331720" cy="3383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ourier New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simulate_capacity_loss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ourier New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simulate_existing_events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ourier New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simulate_new_order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ourier New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simulate_order_change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ourier New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simulate_force_assignment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ourier New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simulate_plant_parameter_change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ourier New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simulate_route_change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12"/>
          <p:cNvSpPr/>
          <p:nvPr/>
        </p:nvSpPr>
        <p:spPr>
          <a:xfrm>
            <a:off x="9052560" y="1371600"/>
            <a:ext cx="2651760" cy="4206240"/>
          </a:xfrm>
          <a:prstGeom prst="roundRect">
            <a:avLst>
              <a:gd fmla="val 2759" name="adj"/>
            </a:avLst>
          </a:prstGeom>
          <a:solidFill>
            <a:schemeClr val="lt2"/>
          </a:solidFill>
          <a:ln cap="flat" cmpd="sng" w="12700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2" name="Google Shape;192;p12"/>
          <p:cNvSpPr txBox="1"/>
          <p:nvPr/>
        </p:nvSpPr>
        <p:spPr>
          <a:xfrm>
            <a:off x="9281160" y="1554480"/>
            <a:ext cx="2286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FA5"/>
              </a:buClr>
              <a:buSzPts val="1700"/>
              <a:buFont typeface="Calibri"/>
              <a:buNone/>
            </a:pPr>
            <a:r>
              <a:rPr b="1" i="0" lang="en-US" sz="1700" u="none" cap="none" strike="noStrike">
                <a:solidFill>
                  <a:srgbClr val="4A6FA5"/>
                </a:solidFill>
                <a:latin typeface="Calibri"/>
                <a:ea typeface="Calibri"/>
                <a:cs typeface="Calibri"/>
                <a:sym typeface="Calibri"/>
              </a:rPr>
              <a:t>Brief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12"/>
          <p:cNvSpPr txBox="1"/>
          <p:nvPr/>
        </p:nvSpPr>
        <p:spPr>
          <a:xfrm>
            <a:off x="9281160" y="2103120"/>
            <a:ext cx="2331720" cy="3383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ourier New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get_brief_facts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12"/>
          <p:cNvSpPr txBox="1"/>
          <p:nvPr/>
        </p:nvSpPr>
        <p:spPr>
          <a:xfrm>
            <a:off x="548640" y="5806440"/>
            <a:ext cx="110642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Covers every judge question type: allocate, trade-off, cheapest plan, capacity loss, explain a choice, management brief.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12"/>
          <p:cNvSpPr txBox="1"/>
          <p:nvPr>
            <p:ph idx="4294967295" type="sldNum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000" u="none" cap="none" strike="noStrike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000" u="none" cap="none" strike="noStrike">
              <a:solidFill>
                <a:schemeClr val="accent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3"/>
          <p:cNvSpPr txBox="1"/>
          <p:nvPr>
            <p:ph type="title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Cambria"/>
              <a:buNone/>
            </a:pPr>
            <a:r>
              <a:rPr b="1" lang="en-US" sz="3200">
                <a:solidFill>
                  <a:schemeClr val="dk2"/>
                </a:solidFill>
              </a:rPr>
              <a:t>Results on our 150-order data pack</a:t>
            </a:r>
            <a:endParaRPr sz="3200"/>
          </a:p>
        </p:txBody>
      </p:sp>
      <p:sp>
        <p:nvSpPr>
          <p:cNvPr id="202" name="Google Shape;202;p13"/>
          <p:cNvSpPr txBox="1"/>
          <p:nvPr/>
        </p:nvSpPr>
        <p:spPr>
          <a:xfrm>
            <a:off x="548640" y="1325880"/>
            <a:ext cx="26517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Cambria"/>
              <a:buNone/>
            </a:pPr>
            <a:r>
              <a:rPr b="1" i="0" lang="en-US" sz="4000" u="none" cap="none" strike="noStrike"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rPr>
              <a:t>150 / 150</a:t>
            </a:r>
            <a:endParaRPr b="0" i="0" sz="4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13"/>
          <p:cNvSpPr txBox="1"/>
          <p:nvPr/>
        </p:nvSpPr>
        <p:spPr>
          <a:xfrm>
            <a:off x="548640" y="2148840"/>
            <a:ext cx="2651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orders allocated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13"/>
          <p:cNvSpPr txBox="1"/>
          <p:nvPr/>
        </p:nvSpPr>
        <p:spPr>
          <a:xfrm>
            <a:off x="3383280" y="1325880"/>
            <a:ext cx="26517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Cambria"/>
              <a:buNone/>
            </a:pPr>
            <a:r>
              <a:rPr b="1" i="0" lang="en-US" sz="4000" u="none" cap="none" strike="noStrike"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rPr>
              <a:t>2</a:t>
            </a:r>
            <a:endParaRPr b="0" i="0" sz="4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13"/>
          <p:cNvSpPr txBox="1"/>
          <p:nvPr/>
        </p:nvSpPr>
        <p:spPr>
          <a:xfrm>
            <a:off x="3383280" y="2148840"/>
            <a:ext cx="2651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late orders (vs 106 greedy)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13"/>
          <p:cNvSpPr txBox="1"/>
          <p:nvPr/>
        </p:nvSpPr>
        <p:spPr>
          <a:xfrm>
            <a:off x="6217920" y="1325880"/>
            <a:ext cx="26517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Cambria"/>
              <a:buNone/>
            </a:pPr>
            <a:r>
              <a:rPr b="1" i="0" lang="en-US" sz="4000" u="none" cap="none" strike="noStrike">
                <a:solidFill>
                  <a:schemeClr val="accent2"/>
                </a:solidFill>
                <a:latin typeface="Cambria"/>
                <a:ea typeface="Cambria"/>
                <a:cs typeface="Cambria"/>
                <a:sym typeface="Cambria"/>
              </a:rPr>
              <a:t>162 t</a:t>
            </a:r>
            <a:endParaRPr b="0" i="0" sz="4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13"/>
          <p:cNvSpPr txBox="1"/>
          <p:nvPr/>
        </p:nvSpPr>
        <p:spPr>
          <a:xfrm>
            <a:off x="6217920" y="2148840"/>
            <a:ext cx="2651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carbon (vs 328 t greedy)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13"/>
          <p:cNvSpPr txBox="1"/>
          <p:nvPr/>
        </p:nvSpPr>
        <p:spPr>
          <a:xfrm>
            <a:off x="9052560" y="1325880"/>
            <a:ext cx="26517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Cambria"/>
              <a:buNone/>
            </a:pPr>
            <a:r>
              <a:rPr b="1" i="0" lang="en-US" sz="4000" u="none" cap="none" strike="noStrike"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rPr>
              <a:t>~2 s</a:t>
            </a:r>
            <a:endParaRPr b="0" i="0" sz="4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13"/>
          <p:cNvSpPr txBox="1"/>
          <p:nvPr/>
        </p:nvSpPr>
        <p:spPr>
          <a:xfrm>
            <a:off x="9052560" y="2148840"/>
            <a:ext cx="2651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to solve and prove optimal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0" name="Google Shape;210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48640" y="2834640"/>
            <a:ext cx="3657600" cy="329184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1" name="Google Shape;211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270248" y="2834640"/>
            <a:ext cx="3657600" cy="329184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1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982712" y="2834640"/>
            <a:ext cx="3657600" cy="3291840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13"/>
          <p:cNvSpPr txBox="1"/>
          <p:nvPr>
            <p:ph idx="4294967295" type="sldNum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000" u="none" cap="none" strike="noStrike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000" u="none" cap="none" strike="noStrike">
              <a:solidFill>
                <a:schemeClr val="accent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14"/>
          <p:cNvSpPr txBox="1"/>
          <p:nvPr>
            <p:ph type="title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Cambria"/>
              <a:buNone/>
            </a:pPr>
            <a:r>
              <a:rPr b="1" lang="en-US" sz="3200">
                <a:solidFill>
                  <a:schemeClr val="dk2"/>
                </a:solidFill>
              </a:rPr>
              <a:t>Tech stack and how we keep it trustworthy</a:t>
            </a:r>
            <a:endParaRPr sz="3200"/>
          </a:p>
        </p:txBody>
      </p:sp>
      <p:sp>
        <p:nvSpPr>
          <p:cNvPr id="220" name="Google Shape;220;p14"/>
          <p:cNvSpPr/>
          <p:nvPr/>
        </p:nvSpPr>
        <p:spPr>
          <a:xfrm>
            <a:off x="548640" y="1371600"/>
            <a:ext cx="5120640" cy="914400"/>
          </a:xfrm>
          <a:prstGeom prst="roundRect">
            <a:avLst>
              <a:gd fmla="val 8000" name="adj"/>
            </a:avLst>
          </a:prstGeom>
          <a:solidFill>
            <a:schemeClr val="lt2"/>
          </a:solidFill>
          <a:ln cap="flat" cmpd="sng" w="12700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1" name="Google Shape;221;p14"/>
          <p:cNvSpPr txBox="1"/>
          <p:nvPr/>
        </p:nvSpPr>
        <p:spPr>
          <a:xfrm>
            <a:off x="822960" y="1481328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Python + pandas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14"/>
          <p:cNvSpPr txBox="1"/>
          <p:nvPr/>
        </p:nvSpPr>
        <p:spPr>
          <a:xfrm>
            <a:off x="822960" y="1847088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Loading, validation, KPIs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14"/>
          <p:cNvSpPr/>
          <p:nvPr/>
        </p:nvSpPr>
        <p:spPr>
          <a:xfrm>
            <a:off x="548640" y="2468880"/>
            <a:ext cx="5120640" cy="914400"/>
          </a:xfrm>
          <a:prstGeom prst="roundRect">
            <a:avLst>
              <a:gd fmla="val 8000" name="adj"/>
            </a:avLst>
          </a:prstGeom>
          <a:solidFill>
            <a:schemeClr val="lt2"/>
          </a:solidFill>
          <a:ln cap="flat" cmpd="sng" w="12700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14"/>
          <p:cNvSpPr txBox="1"/>
          <p:nvPr/>
        </p:nvSpPr>
        <p:spPr>
          <a:xfrm>
            <a:off x="822960" y="2578608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PuLP + HiGHS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14"/>
          <p:cNvSpPr txBox="1"/>
          <p:nvPr/>
        </p:nvSpPr>
        <p:spPr>
          <a:xfrm>
            <a:off x="822960" y="2944368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Mixed-integer optimisation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14"/>
          <p:cNvSpPr/>
          <p:nvPr/>
        </p:nvSpPr>
        <p:spPr>
          <a:xfrm>
            <a:off x="548640" y="3566160"/>
            <a:ext cx="5120640" cy="914400"/>
          </a:xfrm>
          <a:prstGeom prst="roundRect">
            <a:avLst>
              <a:gd fmla="val 8000" name="adj"/>
            </a:avLst>
          </a:prstGeom>
          <a:solidFill>
            <a:schemeClr val="lt2"/>
          </a:solidFill>
          <a:ln cap="flat" cmpd="sng" w="12700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7" name="Google Shape;227;p14"/>
          <p:cNvSpPr txBox="1"/>
          <p:nvPr/>
        </p:nvSpPr>
        <p:spPr>
          <a:xfrm>
            <a:off x="822960" y="3675888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Gemini API (google-genai)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14"/>
          <p:cNvSpPr txBox="1"/>
          <p:nvPr/>
        </p:nvSpPr>
        <p:spPr>
          <a:xfrm>
            <a:off x="822960" y="4041648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Function calling, plain-English answers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14"/>
          <p:cNvSpPr/>
          <p:nvPr/>
        </p:nvSpPr>
        <p:spPr>
          <a:xfrm>
            <a:off x="548640" y="4663440"/>
            <a:ext cx="5120640" cy="914400"/>
          </a:xfrm>
          <a:prstGeom prst="roundRect">
            <a:avLst>
              <a:gd fmla="val 8000" name="adj"/>
            </a:avLst>
          </a:prstGeom>
          <a:solidFill>
            <a:schemeClr val="lt2"/>
          </a:solidFill>
          <a:ln cap="flat" cmpd="sng" w="12700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14"/>
          <p:cNvSpPr txBox="1"/>
          <p:nvPr/>
        </p:nvSpPr>
        <p:spPr>
          <a:xfrm>
            <a:off x="822960" y="4773168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Streamlit + Plotly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14"/>
          <p:cNvSpPr txBox="1"/>
          <p:nvPr/>
        </p:nvSpPr>
        <p:spPr>
          <a:xfrm>
            <a:off x="822960" y="5138928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Chat, plan table, trade-off chart, traces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14"/>
          <p:cNvSpPr txBox="1"/>
          <p:nvPr/>
        </p:nvSpPr>
        <p:spPr>
          <a:xfrm>
            <a:off x="6217920" y="1371600"/>
            <a:ext cx="53949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Trust and audit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14"/>
          <p:cNvSpPr txBox="1"/>
          <p:nvPr/>
        </p:nvSpPr>
        <p:spPr>
          <a:xfrm>
            <a:off x="6217920" y="1920240"/>
            <a:ext cx="539496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Char char="•"/>
            </a:pPr>
            <a:r>
              <a:rPr b="0" i="0" lang="en-US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Independent validator recomputes capacity, eligibility, cost and carbon after every solve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Char char="•"/>
            </a:pPr>
            <a:r>
              <a:rPr b="0" i="0" lang="en-US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Original CSVs are never modified; what-ifs use deep copies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Char char="•"/>
            </a:pPr>
            <a:r>
              <a:rPr b="0" i="0" lang="en-US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Every answer's numbers are checked against tool outputs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Char char="•"/>
            </a:pPr>
            <a:r>
              <a:rPr b="0" i="0" lang="en-US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Every question is traced to traces/&lt;run_id&gt;.json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Char char="•"/>
            </a:pPr>
            <a:r>
              <a:rPr b="0" i="0" lang="en-US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Assumptions and limitations are returned with every plan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14"/>
          <p:cNvSpPr txBox="1"/>
          <p:nvPr>
            <p:ph idx="4294967295" type="sldNum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000" u="none" cap="none" strike="noStrike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000" u="none" cap="none" strike="noStrike">
              <a:solidFill>
                <a:schemeClr val="accent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15"/>
          <p:cNvSpPr txBox="1"/>
          <p:nvPr>
            <p:ph type="title"/>
          </p:nvPr>
        </p:nvSpPr>
        <p:spPr>
          <a:xfrm>
            <a:off x="731520" y="2011680"/>
            <a:ext cx="1069848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mbria"/>
              <a:buNone/>
            </a:pPr>
            <a:r>
              <a:rPr b="1" lang="en-US" sz="4400">
                <a:solidFill>
                  <a:schemeClr val="lt1"/>
                </a:solidFill>
              </a:rPr>
              <a:t>Next steps</a:t>
            </a:r>
            <a:endParaRPr sz="4400"/>
          </a:p>
        </p:txBody>
      </p:sp>
      <p:sp>
        <p:nvSpPr>
          <p:cNvPr id="241" name="Google Shape;241;p15"/>
          <p:cNvSpPr txBox="1"/>
          <p:nvPr>
            <p:ph idx="1" type="body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rt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</a:pPr>
            <a:r>
              <a:rPr lang="en-US" sz="1800">
                <a:solidFill>
                  <a:schemeClr val="lt2"/>
                </a:solidFill>
              </a:rPr>
              <a:t>FastAPI endpoints: /analyze, /ingest, /health, /trace</a:t>
            </a:r>
            <a:endParaRPr sz="1800"/>
          </a:p>
          <a:p>
            <a:pPr indent="-342900" lvl="0" marL="342900" rtl="0" algn="l">
              <a:spcBef>
                <a:spcPts val="36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</a:pPr>
            <a:r>
              <a:rPr lang="en-US" sz="1800">
                <a:solidFill>
                  <a:schemeClr val="lt2"/>
                </a:solidFill>
              </a:rPr>
              <a:t>Docker compose packaging</a:t>
            </a:r>
            <a:endParaRPr sz="1800"/>
          </a:p>
          <a:p>
            <a:pPr indent="-342900" lvl="0" marL="342900" rtl="0" algn="l">
              <a:spcBef>
                <a:spcPts val="36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</a:pPr>
            <a:r>
              <a:rPr lang="en-US" sz="1800">
                <a:solidFill>
                  <a:schemeClr val="lt2"/>
                </a:solidFill>
              </a:rPr>
              <a:t>Evaluation set of 20+ cases with expected results</a:t>
            </a:r>
            <a:endParaRPr sz="1800"/>
          </a:p>
          <a:p>
            <a:pPr indent="-342900" lvl="0" marL="342900" rtl="0" algn="l">
              <a:spcBef>
                <a:spcPts val="36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</a:pPr>
            <a:r>
              <a:rPr lang="en-US" sz="1800">
                <a:solidFill>
                  <a:schemeClr val="lt2"/>
                </a:solidFill>
              </a:rPr>
              <a:t>Weekly carbon intensity and holding-cost extensions</a:t>
            </a:r>
            <a:endParaRPr sz="18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Allocation">
  <a:themeElements>
    <a:clrScheme name="Allocation">
      <a:dk1>
        <a:srgbClr val="1B2333"/>
      </a:dk1>
      <a:lt1>
        <a:srgbClr val="FFFFFF"/>
      </a:lt1>
      <a:dk2>
        <a:srgbClr val="1F3A5F"/>
      </a:dk2>
      <a:lt2>
        <a:srgbClr val="F1F4F8"/>
      </a:lt2>
      <a:accent1>
        <a:srgbClr val="1F3A5F"/>
      </a:accent1>
      <a:accent2>
        <a:srgbClr val="2E8B57"/>
      </a:accent2>
      <a:accent3>
        <a:srgbClr val="D98E04"/>
      </a:accent3>
      <a:accent4>
        <a:srgbClr val="8A94A6"/>
      </a:accent4>
      <a:accent5>
        <a:srgbClr val="C0392B"/>
      </a:accent5>
      <a:accent6>
        <a:srgbClr val="4A6FA5"/>
      </a:accent6>
      <a:hlink>
        <a:srgbClr val="1F3A5F"/>
      </a:hlink>
      <a:folHlink>
        <a:srgbClr val="4A6FA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Allocation">
  <a:themeElements>
    <a:clrScheme name="Allocation">
      <a:dk1>
        <a:srgbClr val="1B2333"/>
      </a:dk1>
      <a:lt1>
        <a:srgbClr val="FFFFFF"/>
      </a:lt1>
      <a:dk2>
        <a:srgbClr val="1F3A5F"/>
      </a:dk2>
      <a:lt2>
        <a:srgbClr val="F1F4F8"/>
      </a:lt2>
      <a:accent1>
        <a:srgbClr val="1F3A5F"/>
      </a:accent1>
      <a:accent2>
        <a:srgbClr val="2E8B57"/>
      </a:accent2>
      <a:accent3>
        <a:srgbClr val="D98E04"/>
      </a:accent3>
      <a:accent4>
        <a:srgbClr val="8A94A6"/>
      </a:accent4>
      <a:accent5>
        <a:srgbClr val="C0392B"/>
      </a:accent5>
      <a:accent6>
        <a:srgbClr val="4A6FA5"/>
      </a:accent6>
      <a:hlink>
        <a:srgbClr val="1F3A5F"/>
      </a:hlink>
      <a:folHlink>
        <a:srgbClr val="4A6FA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