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c7ace9a-25ce-11fb-7df5-1a014dabc38d}">
          <p14:sldIdLst>
            <p14:sldId id="256"/>
            <p14:sldId id="257"/>
          </p14:sldIdLst>
        </p14:section>
        <p14:section name="Approach" id="{9106f09e-1699-6274-70a6-f6452b366276}">
          <p14:sldIdLst>
            <p14:sldId id="258"/>
            <p14:sldId id="259"/>
            <p14:sldId id="260"/>
          </p14:sldIdLst>
        </p14:section>
        <p14:section name="Optimisation" id="{d0bb91bb-06a6-2f5b-b2a6-a42b0b8c2d5f}">
          <p14:sldIdLst>
            <p14:sldId id="261"/>
            <p14:sldId id="262"/>
            <p14:sldId id="263"/>
            <p14:sldId id="264"/>
          </p14:sldIdLst>
        </p14:section>
        <p14:section name="AI layer" id="{493916d0-bc2c-02ca-944f-867ccce0f5c2}">
          <p14:sldIdLst>
            <p14:sldId id="265"/>
            <p14:sldId id="266"/>
          </p14:sldIdLst>
        </p14:section>
        <p14:section name="Results" id="{d7aae6cf-cd46-e872-f046-fc403ba44a49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3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333"/>
                </a:solidFill>
                <a:latin typeface="+mn-lt"/>
              </a:rPr>
              <a:t>Late orders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 orders</c:v>
                </c:pt>
              </c:strCache>
            </c:strRef>
          </c:tx>
          <c:spPr>
            <a:solidFill>
              <a:srgbClr val="D98E0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Greedy cheapest plant</c:v>
                  </c:pt>
                  <c:pt idx="1">
                    <c:v>Cheapest on-time plan</c:v>
                  </c:pt>
                  <c:pt idx="2">
                    <c:v>Our default (0.7 / 0.3)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106</c:v>
                </c:pt>
                <c:pt idx="1">
                  <c:v>2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94A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4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3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333"/>
                </a:solidFill>
                <a:latin typeface="+mn-lt"/>
              </a:rPr>
              <a:t>Carbon (tonnes)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Carbon (t)</c:v>
                </c:pt>
              </c:strCache>
            </c:strRef>
          </c:tx>
          <c:spPr>
            <a:solidFill>
              <a:srgbClr val="2E8B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Greedy cheapest plant</c:v>
                  </c:pt>
                  <c:pt idx="1">
                    <c:v>Cheapest on-time plan</c:v>
                  </c:pt>
                  <c:pt idx="2">
                    <c:v>Our default (0.7 / 0.3)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327.8</c:v>
                </c:pt>
                <c:pt idx="1">
                  <c:v>276.6</c:v>
                </c:pt>
                <c:pt idx="2">
                  <c:v>162.4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94A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4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3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333"/>
                </a:solidFill>
                <a:latin typeface="+mn-lt"/>
              </a:rPr>
              <a:t>Landed cost (millions)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(M)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Greedy cheapest plant</c:v>
                  </c:pt>
                  <c:pt idx="1">
                    <c:v>Cheapest on-time plan</c:v>
                  </c:pt>
                  <c:pt idx="2">
                    <c:v>Our default (0.7 / 0.3)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1.3</c:v>
                </c:pt>
                <c:pt idx="1">
                  <c:v>1.34</c:v>
                </c:pt>
                <c:pt idx="2">
                  <c:v>1.53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B2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94A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4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assign customer orders to three plants, balancing landed cost, carbon and delivery dates, and explain the plan in plain English.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Default plan costs about 14% more than the cheapest on-time plan but emits about 41% less carbon with the same 2 late orders. The greedy rule is cheap only because it ignores due 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HCLTech Future Ready AI Engineer Hackathon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Multi-Plant Order Allocation with Cost and Carbon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Combined optimisation (PuLP) + Gemini function calling + Streamlit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HCLTech Future Ready AI Engineer Hackathon · October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problem: cheapest, greenest and on time rarely agree</a:t>
            </a:r>
            <a:endParaRPr lang="en-US" sz="3200" dirty="0"/>
          </a:p>
        </p:txBody>
      </p:sp>
      <p:sp>
        <p:nvSpPr>
          <p:cNvPr id="3" name="t0"/>
          <p:cNvSpPr txBox="1"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Every order can be built in any capable plant. Each plant has a different cost, carbon intensity, capacity and distance to customers.</a:t>
            </a:r>
            <a:endParaRPr lang="en-US" sz="1600" dirty="0"/>
          </a:p>
        </p:txBody>
      </p:sp>
      <p:sp>
        <p:nvSpPr>
          <p:cNvPr id="4" name="c1"/>
          <p:cNvSpPr/>
          <p:nvPr/>
        </p:nvSpPr>
        <p:spPr>
          <a:xfrm>
            <a:off x="548640" y="2194560"/>
            <a:ext cx="3474720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d2"/>
          <p:cNvSpPr/>
          <p:nvPr/>
        </p:nvSpPr>
        <p:spPr>
          <a:xfrm>
            <a:off x="822960" y="24231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6" name="dl3"/>
          <p:cNvSpPr txBox="1"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t4"/>
          <p:cNvSpPr txBox="1"/>
          <p:nvPr/>
        </p:nvSpPr>
        <p:spPr>
          <a:xfrm>
            <a:off x="1463040" y="2423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Plant A</a:t>
            </a:r>
            <a:endParaRPr lang="en-US" sz="2000" dirty="0"/>
          </a:p>
        </p:txBody>
      </p:sp>
      <p:sp>
        <p:nvSpPr>
          <p:cNvPr id="8" name="t5"/>
          <p:cNvSpPr txBox="1"/>
          <p:nvPr/>
        </p:nvSpPr>
        <p:spPr>
          <a:xfrm>
            <a:off x="822960" y="3017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Pune, India</a:t>
            </a:r>
            <a:endParaRPr lang="en-US" sz="1300" dirty="0"/>
          </a:p>
        </p:txBody>
      </p:sp>
      <p:sp>
        <p:nvSpPr>
          <p:cNvPr id="9" name="t6"/>
          <p:cNvSpPr txBox="1"/>
          <p:nvPr/>
        </p:nvSpPr>
        <p:spPr>
          <a:xfrm>
            <a:off x="822960" y="34290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Lowest production cost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High-carbon grid (0.82 kg/kWh)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Long sea routes to Europe and the Americas</a:t>
            </a:r>
            <a:endParaRPr lang="en-US" sz="1400" dirty="0"/>
          </a:p>
        </p:txBody>
      </p:sp>
      <p:sp>
        <p:nvSpPr>
          <p:cNvPr id="10" name="c7"/>
          <p:cNvSpPr/>
          <p:nvPr/>
        </p:nvSpPr>
        <p:spPr>
          <a:xfrm>
            <a:off x="4297680" y="2194560"/>
            <a:ext cx="3474720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d8"/>
          <p:cNvSpPr/>
          <p:nvPr/>
        </p:nvSpPr>
        <p:spPr>
          <a:xfrm>
            <a:off x="4572000" y="2423160"/>
            <a:ext cx="457200" cy="457200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2" name="dl9"/>
          <p:cNvSpPr txBox="1"/>
          <p:nvPr/>
        </p:nvSpPr>
        <p:spPr>
          <a:xfrm>
            <a:off x="457200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3" name="t10"/>
          <p:cNvSpPr txBox="1"/>
          <p:nvPr/>
        </p:nvSpPr>
        <p:spPr>
          <a:xfrm>
            <a:off x="5212080" y="2423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Plant B</a:t>
            </a:r>
            <a:endParaRPr lang="en-US" sz="2000" dirty="0"/>
          </a:p>
        </p:txBody>
      </p:sp>
      <p:sp>
        <p:nvSpPr>
          <p:cNvPr id="14" name="t11"/>
          <p:cNvSpPr txBox="1"/>
          <p:nvPr/>
        </p:nvSpPr>
        <p:spPr>
          <a:xfrm>
            <a:off x="4572000" y="3017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Stuttgart, Germany</a:t>
            </a:r>
            <a:endParaRPr lang="en-US" sz="1300" dirty="0"/>
          </a:p>
        </p:txBody>
      </p:sp>
      <p:sp>
        <p:nvSpPr>
          <p:cNvPr id="15" name="t12"/>
          <p:cNvSpPr txBox="1"/>
          <p:nvPr/>
        </p:nvSpPr>
        <p:spPr>
          <a:xfrm>
            <a:off x="4572000" y="34290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Highest cost, pricey energy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Medium carbon (0.35 kg/kWh)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Fast to European customers</a:t>
            </a:r>
            <a:endParaRPr lang="en-US" sz="1400" dirty="0"/>
          </a:p>
        </p:txBody>
      </p:sp>
      <p:sp>
        <p:nvSpPr>
          <p:cNvPr id="16" name="c13"/>
          <p:cNvSpPr/>
          <p:nvPr/>
        </p:nvSpPr>
        <p:spPr>
          <a:xfrm>
            <a:off x="8046720" y="2194560"/>
            <a:ext cx="3474720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d14"/>
          <p:cNvSpPr/>
          <p:nvPr/>
        </p:nvSpPr>
        <p:spPr>
          <a:xfrm>
            <a:off x="8321040" y="2423160"/>
            <a:ext cx="457200" cy="4572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8" name="dl15"/>
          <p:cNvSpPr txBox="1"/>
          <p:nvPr/>
        </p:nvSpPr>
        <p:spPr>
          <a:xfrm>
            <a:off x="832104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9" name="t16"/>
          <p:cNvSpPr txBox="1"/>
          <p:nvPr/>
        </p:nvSpPr>
        <p:spPr>
          <a:xfrm>
            <a:off x="8961120" y="2423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Plant C</a:t>
            </a:r>
            <a:endParaRPr lang="en-US" sz="2000" dirty="0"/>
          </a:p>
        </p:txBody>
      </p:sp>
      <p:sp>
        <p:nvSpPr>
          <p:cNvPr id="20" name="t17"/>
          <p:cNvSpPr txBox="1"/>
          <p:nvPr/>
        </p:nvSpPr>
        <p:spPr>
          <a:xfrm>
            <a:off x="8321040" y="3017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Quebec, Canada</a:t>
            </a:r>
            <a:endParaRPr lang="en-US" sz="1300" dirty="0"/>
          </a:p>
        </p:txBody>
      </p:sp>
      <p:sp>
        <p:nvSpPr>
          <p:cNvPr id="21" name="t18"/>
          <p:cNvSpPr txBox="1"/>
          <p:nvPr/>
        </p:nvSpPr>
        <p:spPr>
          <a:xfrm>
            <a:off x="8321040" y="34290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Mid cost, cheap hydro power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Very low carbon (0.04 kg/kWh)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Small capacity; only plant for P6</a:t>
            </a:r>
            <a:endParaRPr lang="en-US" sz="1400" dirty="0"/>
          </a:p>
        </p:txBody>
      </p:sp>
      <p:sp>
        <p:nvSpPr>
          <p:cNvPr id="22" name="t19"/>
          <p:cNvSpPr txBox="1"/>
          <p:nvPr/>
        </p:nvSpPr>
        <p:spPr>
          <a:xfrm>
            <a:off x="548640" y="5303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Choosing the cheapest plant for every order misses delivery dates and overloads plants. Choosing the greenest raises cost. Management needs the trade-off, and a fast re-plan when a plant loses capacity.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Our approach: the solver decides, the LLM explains</a:t>
            </a:r>
            <a:endParaRPr lang="en-US" sz="3200" dirty="0"/>
          </a:p>
        </p:txBody>
      </p:sp>
      <p:sp>
        <p:nvSpPr>
          <p:cNvPr id="3" name="c20"/>
          <p:cNvSpPr/>
          <p:nvPr/>
        </p:nvSpPr>
        <p:spPr>
          <a:xfrm>
            <a:off x="548640" y="1645920"/>
            <a:ext cx="1691640" cy="173736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21"/>
          <p:cNvSpPr txBox="1"/>
          <p:nvPr/>
        </p:nvSpPr>
        <p:spPr>
          <a:xfrm>
            <a:off x="685800" y="18288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CSV data</a:t>
            </a:r>
            <a:endParaRPr lang="en-US" sz="1600" dirty="0"/>
          </a:p>
        </p:txBody>
      </p:sp>
      <p:sp>
        <p:nvSpPr>
          <p:cNvPr id="5" name="t22"/>
          <p:cNvSpPr txBox="1"/>
          <p:nvPr/>
        </p:nvSpPr>
        <p:spPr>
          <a:xfrm>
            <a:off x="685800" y="2514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 files, Annex B schema</a:t>
            </a:r>
            <a:endParaRPr lang="en-US" sz="1200" dirty="0"/>
          </a:p>
        </p:txBody>
      </p:sp>
      <p:sp>
        <p:nvSpPr>
          <p:cNvPr id="6" name="a23"/>
          <p:cNvSpPr/>
          <p:nvPr/>
        </p:nvSpPr>
        <p:spPr>
          <a:xfrm>
            <a:off x="2286000" y="2377440"/>
            <a:ext cx="137160" cy="274320"/>
          </a:xfrm>
          <a:prstGeom prst="rtTriangl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c24"/>
          <p:cNvSpPr/>
          <p:nvPr/>
        </p:nvSpPr>
        <p:spPr>
          <a:xfrm>
            <a:off x="2468880" y="1645920"/>
            <a:ext cx="1691640" cy="173736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25"/>
          <p:cNvSpPr txBox="1"/>
          <p:nvPr/>
        </p:nvSpPr>
        <p:spPr>
          <a:xfrm>
            <a:off x="2606040" y="18288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Validation</a:t>
            </a:r>
            <a:endParaRPr lang="en-US" sz="1600" dirty="0"/>
          </a:p>
        </p:txBody>
      </p:sp>
      <p:sp>
        <p:nvSpPr>
          <p:cNvPr id="9" name="t26"/>
          <p:cNvSpPr txBox="1"/>
          <p:nvPr/>
        </p:nvSpPr>
        <p:spPr>
          <a:xfrm>
            <a:off x="2606040" y="2514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Columns, units, routes, capability</a:t>
            </a:r>
            <a:endParaRPr lang="en-US" sz="1200" dirty="0"/>
          </a:p>
        </p:txBody>
      </p:sp>
      <p:sp>
        <p:nvSpPr>
          <p:cNvPr id="10" name="a27"/>
          <p:cNvSpPr/>
          <p:nvPr/>
        </p:nvSpPr>
        <p:spPr>
          <a:xfrm>
            <a:off x="4206240" y="2377440"/>
            <a:ext cx="137160" cy="274320"/>
          </a:xfrm>
          <a:prstGeom prst="rtTriangl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c28"/>
          <p:cNvSpPr/>
          <p:nvPr/>
        </p:nvSpPr>
        <p:spPr>
          <a:xfrm>
            <a:off x="4389120" y="1645920"/>
            <a:ext cx="1691640" cy="1737360"/>
          </a:xfrm>
          <a:prstGeom prst="roundRect">
            <a:avLst>
              <a:gd name="adj" fmla="val 432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29"/>
          <p:cNvSpPr txBox="1"/>
          <p:nvPr/>
        </p:nvSpPr>
        <p:spPr>
          <a:xfrm>
            <a:off x="4526280" y="18288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PuLP optimiser</a:t>
            </a:r>
            <a:endParaRPr lang="en-US" sz="1600" dirty="0"/>
          </a:p>
        </p:txBody>
      </p:sp>
      <p:sp>
        <p:nvSpPr>
          <p:cNvPr id="13" name="t30"/>
          <p:cNvSpPr txBox="1"/>
          <p:nvPr/>
        </p:nvSpPr>
        <p:spPr>
          <a:xfrm>
            <a:off x="4526280" y="2514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One combined model, all orders</a:t>
            </a:r>
            <a:endParaRPr lang="en-US" sz="1200" dirty="0"/>
          </a:p>
        </p:txBody>
      </p:sp>
      <p:sp>
        <p:nvSpPr>
          <p:cNvPr id="14" name="a31"/>
          <p:cNvSpPr/>
          <p:nvPr/>
        </p:nvSpPr>
        <p:spPr>
          <a:xfrm>
            <a:off x="6126480" y="2377440"/>
            <a:ext cx="137160" cy="274320"/>
          </a:xfrm>
          <a:prstGeom prst="rtTriangl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c32"/>
          <p:cNvSpPr/>
          <p:nvPr/>
        </p:nvSpPr>
        <p:spPr>
          <a:xfrm>
            <a:off x="6309360" y="1645920"/>
            <a:ext cx="1691640" cy="173736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33"/>
          <p:cNvSpPr txBox="1"/>
          <p:nvPr/>
        </p:nvSpPr>
        <p:spPr>
          <a:xfrm>
            <a:off x="6446520" y="18288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20 Python tools</a:t>
            </a:r>
            <a:endParaRPr lang="en-US" sz="1600" dirty="0"/>
          </a:p>
        </p:txBody>
      </p:sp>
      <p:sp>
        <p:nvSpPr>
          <p:cNvPr id="17" name="t34"/>
          <p:cNvSpPr txBox="1"/>
          <p:nvPr/>
        </p:nvSpPr>
        <p:spPr>
          <a:xfrm>
            <a:off x="6446520" y="2514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Plans, what-ifs, trade-offs</a:t>
            </a:r>
            <a:endParaRPr lang="en-US" sz="1200" dirty="0"/>
          </a:p>
        </p:txBody>
      </p:sp>
      <p:sp>
        <p:nvSpPr>
          <p:cNvPr id="18" name="a35"/>
          <p:cNvSpPr/>
          <p:nvPr/>
        </p:nvSpPr>
        <p:spPr>
          <a:xfrm>
            <a:off x="8046720" y="2377440"/>
            <a:ext cx="137160" cy="274320"/>
          </a:xfrm>
          <a:prstGeom prst="rtTriangl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c36"/>
          <p:cNvSpPr/>
          <p:nvPr/>
        </p:nvSpPr>
        <p:spPr>
          <a:xfrm>
            <a:off x="8229600" y="1645920"/>
            <a:ext cx="1691640" cy="173736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37"/>
          <p:cNvSpPr txBox="1"/>
          <p:nvPr/>
        </p:nvSpPr>
        <p:spPr>
          <a:xfrm>
            <a:off x="8366760" y="18288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Gemini API</a:t>
            </a:r>
            <a:endParaRPr lang="en-US" sz="1600" dirty="0"/>
          </a:p>
        </p:txBody>
      </p:sp>
      <p:sp>
        <p:nvSpPr>
          <p:cNvPr id="21" name="t38"/>
          <p:cNvSpPr txBox="1"/>
          <p:nvPr/>
        </p:nvSpPr>
        <p:spPr>
          <a:xfrm>
            <a:off x="8366760" y="2514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Picks tools, writes the answer</a:t>
            </a:r>
            <a:endParaRPr lang="en-US" sz="1200" dirty="0"/>
          </a:p>
        </p:txBody>
      </p:sp>
      <p:sp>
        <p:nvSpPr>
          <p:cNvPr id="22" name="a39"/>
          <p:cNvSpPr/>
          <p:nvPr/>
        </p:nvSpPr>
        <p:spPr>
          <a:xfrm>
            <a:off x="9966960" y="2377440"/>
            <a:ext cx="137160" cy="274320"/>
          </a:xfrm>
          <a:prstGeom prst="rtTriangl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c40"/>
          <p:cNvSpPr/>
          <p:nvPr/>
        </p:nvSpPr>
        <p:spPr>
          <a:xfrm>
            <a:off x="10149840" y="1645920"/>
            <a:ext cx="1691640" cy="173736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41"/>
          <p:cNvSpPr txBox="1"/>
          <p:nvPr/>
        </p:nvSpPr>
        <p:spPr>
          <a:xfrm>
            <a:off x="10287000" y="18288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Streamlit UI</a:t>
            </a:r>
            <a:endParaRPr lang="en-US" sz="1600" dirty="0"/>
          </a:p>
        </p:txBody>
      </p:sp>
      <p:sp>
        <p:nvSpPr>
          <p:cNvPr id="25" name="t42"/>
          <p:cNvSpPr txBox="1"/>
          <p:nvPr/>
        </p:nvSpPr>
        <p:spPr>
          <a:xfrm>
            <a:off x="10287000" y="2514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Chat, plan, chart, traces</a:t>
            </a:r>
            <a:endParaRPr lang="en-US" sz="1200" dirty="0"/>
          </a:p>
        </p:txBody>
      </p:sp>
      <p:sp>
        <p:nvSpPr>
          <p:cNvPr id="26" name="d43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7" name="dl44"/>
          <p:cNvSpPr txBox="1"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8" name="t45"/>
          <p:cNvSpPr txBox="1"/>
          <p:nvPr/>
        </p:nvSpPr>
        <p:spPr>
          <a:xfrm>
            <a:off x="1188720" y="3931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Numbers come only from code</a:t>
            </a:r>
            <a:endParaRPr lang="en-US" sz="1600" dirty="0"/>
          </a:p>
        </p:txBody>
      </p:sp>
      <p:sp>
        <p:nvSpPr>
          <p:cNvPr id="29" name="t46"/>
          <p:cNvSpPr txBox="1"/>
          <p:nvPr/>
        </p:nvSpPr>
        <p:spPr>
          <a:xfrm>
            <a:off x="1188720" y="448056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Plans, costs and carbon are computed by the solver. Gemini never invents or calculates numbers.</a:t>
            </a:r>
            <a:endParaRPr lang="en-US" sz="1400" dirty="0"/>
          </a:p>
        </p:txBody>
      </p:sp>
      <p:sp>
        <p:nvSpPr>
          <p:cNvPr id="30" name="d47"/>
          <p:cNvSpPr/>
          <p:nvPr/>
        </p:nvSpPr>
        <p:spPr>
          <a:xfrm>
            <a:off x="4297680" y="3931920"/>
            <a:ext cx="457200" cy="4572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1" name="dl48"/>
          <p:cNvSpPr txBox="1"/>
          <p:nvPr/>
        </p:nvSpPr>
        <p:spPr>
          <a:xfrm>
            <a:off x="429768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32" name="t49"/>
          <p:cNvSpPr txBox="1"/>
          <p:nvPr/>
        </p:nvSpPr>
        <p:spPr>
          <a:xfrm>
            <a:off x="4937760" y="3931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Simplest design that works</a:t>
            </a:r>
            <a:endParaRPr lang="en-US" sz="1600" dirty="0"/>
          </a:p>
        </p:txBody>
      </p:sp>
      <p:sp>
        <p:nvSpPr>
          <p:cNvPr id="33" name="t50"/>
          <p:cNvSpPr txBox="1"/>
          <p:nvPr/>
        </p:nvSpPr>
        <p:spPr>
          <a:xfrm>
            <a:off x="4937760" y="448056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deterministic optimiser and one LLM loop. No extra agents where a fixed step is enough.</a:t>
            </a:r>
            <a:endParaRPr lang="en-US" sz="1400" dirty="0"/>
          </a:p>
        </p:txBody>
      </p:sp>
      <p:sp>
        <p:nvSpPr>
          <p:cNvPr id="34" name="d51"/>
          <p:cNvSpPr/>
          <p:nvPr/>
        </p:nvSpPr>
        <p:spPr>
          <a:xfrm>
            <a:off x="8046720" y="3931920"/>
            <a:ext cx="457200" cy="4572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dl52"/>
          <p:cNvSpPr txBox="1"/>
          <p:nvPr/>
        </p:nvSpPr>
        <p:spPr>
          <a:xfrm>
            <a:off x="804672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36" name="t53"/>
          <p:cNvSpPr txBox="1"/>
          <p:nvPr/>
        </p:nvSpPr>
        <p:spPr>
          <a:xfrm>
            <a:off x="8686800" y="3931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What-ifs never touch real data</a:t>
            </a:r>
            <a:endParaRPr lang="en-US" sz="1600" dirty="0"/>
          </a:p>
        </p:txBody>
      </p:sp>
      <p:sp>
        <p:nvSpPr>
          <p:cNvPr id="37" name="t54"/>
          <p:cNvSpPr txBox="1"/>
          <p:nvPr/>
        </p:nvSpPr>
        <p:spPr>
          <a:xfrm>
            <a:off x="8686800" y="448056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scenario runs on a deep copy in memory. The CSV files are never written.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Data and validation before any optimisation</a:t>
            </a:r>
            <a:endParaRPr lang="en-US" sz="3200" dirty="0"/>
          </a:p>
        </p:txBody>
      </p:sp>
      <p:sp>
        <p:nvSpPr>
          <p:cNvPr id="3" name="c55"/>
          <p:cNvSpPr/>
          <p:nvPr/>
        </p:nvSpPr>
        <p:spPr>
          <a:xfrm>
            <a:off x="548640" y="1371600"/>
            <a:ext cx="54864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56"/>
          <p:cNvSpPr txBox="1"/>
          <p:nvPr/>
        </p:nvSpPr>
        <p:spPr>
          <a:xfrm>
            <a:off x="777240" y="14813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orders.csv</a:t>
            </a:r>
            <a:endParaRPr lang="en-US" sz="1600" dirty="0"/>
          </a:p>
        </p:txBody>
      </p:sp>
      <p:sp>
        <p:nvSpPr>
          <p:cNvPr id="5" name="t57"/>
          <p:cNvSpPr txBox="1"/>
          <p:nvPr/>
        </p:nvSpPr>
        <p:spPr>
          <a:xfrm>
            <a:off x="777240" y="18288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order_id, product, qty, destination, due</a:t>
            </a:r>
            <a:endParaRPr lang="en-US" sz="1200" dirty="0"/>
          </a:p>
        </p:txBody>
      </p:sp>
      <p:sp>
        <p:nvSpPr>
          <p:cNvPr id="6" name="c58"/>
          <p:cNvSpPr/>
          <p:nvPr/>
        </p:nvSpPr>
        <p:spPr>
          <a:xfrm>
            <a:off x="548640" y="2560320"/>
            <a:ext cx="54864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59"/>
          <p:cNvSpPr txBox="1"/>
          <p:nvPr/>
        </p:nvSpPr>
        <p:spPr>
          <a:xfrm>
            <a:off x="777240" y="26700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plants.csv</a:t>
            </a:r>
            <a:endParaRPr lang="en-US" sz="1600" dirty="0"/>
          </a:p>
        </p:txBody>
      </p:sp>
      <p:sp>
        <p:nvSpPr>
          <p:cNvPr id="8" name="t60"/>
          <p:cNvSpPr txBox="1"/>
          <p:nvPr/>
        </p:nvSpPr>
        <p:spPr>
          <a:xfrm>
            <a:off x="777240" y="3017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plant, product, weekly_capacity, unit_cost, energy_kwh_per_unit, carbon_kg_per_kwh (+ energy price)</a:t>
            </a:r>
            <a:endParaRPr lang="en-US" sz="1200" dirty="0"/>
          </a:p>
        </p:txBody>
      </p:sp>
      <p:sp>
        <p:nvSpPr>
          <p:cNvPr id="9" name="c61"/>
          <p:cNvSpPr/>
          <p:nvPr/>
        </p:nvSpPr>
        <p:spPr>
          <a:xfrm>
            <a:off x="548640" y="3749040"/>
            <a:ext cx="54864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62"/>
          <p:cNvSpPr txBox="1"/>
          <p:nvPr/>
        </p:nvSpPr>
        <p:spPr>
          <a:xfrm>
            <a:off x="777240" y="38587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transport_duties.csv</a:t>
            </a:r>
            <a:endParaRPr lang="en-US" sz="1600" dirty="0"/>
          </a:p>
        </p:txBody>
      </p:sp>
      <p:sp>
        <p:nvSpPr>
          <p:cNvPr id="11" name="t63"/>
          <p:cNvSpPr txBox="1"/>
          <p:nvPr/>
        </p:nvSpPr>
        <p:spPr>
          <a:xfrm>
            <a:off x="777240" y="42062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plant, destination, transport_cost_per_unit, transit_days, duty_pct, carbon_kg_per_unit</a:t>
            </a:r>
            <a:endParaRPr lang="en-US" sz="1200" dirty="0"/>
          </a:p>
        </p:txBody>
      </p:sp>
      <p:sp>
        <p:nvSpPr>
          <p:cNvPr id="12" name="c64"/>
          <p:cNvSpPr/>
          <p:nvPr/>
        </p:nvSpPr>
        <p:spPr>
          <a:xfrm>
            <a:off x="548640" y="4937760"/>
            <a:ext cx="54864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65"/>
          <p:cNvSpPr txBox="1"/>
          <p:nvPr/>
        </p:nvSpPr>
        <p:spPr>
          <a:xfrm>
            <a:off x="777240" y="50474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capacity_events.csv</a:t>
            </a:r>
            <a:endParaRPr lang="en-US" sz="1600" dirty="0"/>
          </a:p>
        </p:txBody>
      </p:sp>
      <p:sp>
        <p:nvSpPr>
          <p:cNvPr id="14" name="t66"/>
          <p:cNvSpPr txBox="1"/>
          <p:nvPr/>
        </p:nvSpPr>
        <p:spPr>
          <a:xfrm>
            <a:off x="777240" y="53949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event_id, plant, from_date, to_date, capacity_loss_pct</a:t>
            </a:r>
            <a:endParaRPr lang="en-US" sz="1200" dirty="0"/>
          </a:p>
        </p:txBody>
      </p:sp>
      <p:sp>
        <p:nvSpPr>
          <p:cNvPr id="15" name="t67"/>
          <p:cNvSpPr txBox="1"/>
          <p:nvPr/>
        </p:nvSpPr>
        <p:spPr>
          <a:xfrm>
            <a:off x="6492240" y="13716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Checks we run</a:t>
            </a:r>
            <a:endParaRPr lang="en-US" sz="2000" dirty="0"/>
          </a:p>
        </p:txBody>
      </p:sp>
      <p:sp>
        <p:nvSpPr>
          <p:cNvPr id="16" name="t68"/>
          <p:cNvSpPr txBox="1"/>
          <p:nvPr/>
        </p:nvSpPr>
        <p:spPr>
          <a:xfrm>
            <a:off x="6492240" y="1920240"/>
            <a:ext cx="5120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Required columns exist; extra columns allowed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Quantities and capacities positive; costs, carbon, transit non-negative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Percent or fraction detected per column (30 vs 0.30)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Every order's product is made somewhere, with a route to its destination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Duplicate or conflicting rows are rejected with a clear error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Bad orders are reported as INVALID_INPUT, never silently dropped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Cost and carbon model for every order and plant</a:t>
            </a:r>
            <a:endParaRPr lang="en-US" sz="3200" dirty="0"/>
          </a:p>
        </p:txBody>
      </p:sp>
      <p:sp>
        <p:nvSpPr>
          <p:cNvPr id="3" name="c69"/>
          <p:cNvSpPr/>
          <p:nvPr/>
        </p:nvSpPr>
        <p:spPr>
          <a:xfrm>
            <a:off x="548640" y="1371600"/>
            <a:ext cx="544068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70"/>
          <p:cNvSpPr txBox="1"/>
          <p:nvPr/>
        </p:nvSpPr>
        <p:spPr>
          <a:xfrm>
            <a:off x="868680" y="1600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Landed cost</a:t>
            </a:r>
            <a:endParaRPr lang="en-US" sz="2400" dirty="0"/>
          </a:p>
        </p:txBody>
      </p:sp>
      <p:sp>
        <p:nvSpPr>
          <p:cNvPr id="5" name="t71"/>
          <p:cNvSpPr txBox="1"/>
          <p:nvPr/>
        </p:nvSpPr>
        <p:spPr>
          <a:xfrm>
            <a:off x="868680" y="2103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production + energy + transport + import duty</a:t>
            </a:r>
            <a:endParaRPr lang="en-US" sz="1500" dirty="0"/>
          </a:p>
        </p:txBody>
      </p:sp>
      <p:sp>
        <p:nvSpPr>
          <p:cNvPr id="6" name="t72"/>
          <p:cNvSpPr txBox="1"/>
          <p:nvPr/>
        </p:nvSpPr>
        <p:spPr>
          <a:xfrm>
            <a:off x="868680" y="269748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production = qty × unit_cost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energy = qty × kWh/unit × energy price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transport = qty × transport cost/unit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duty = duty % × (production + energy)</a:t>
            </a:r>
            <a:endParaRPr lang="en-US" sz="1500" dirty="0"/>
          </a:p>
        </p:txBody>
      </p:sp>
      <p:sp>
        <p:nvSpPr>
          <p:cNvPr id="7" name="c73"/>
          <p:cNvSpPr/>
          <p:nvPr/>
        </p:nvSpPr>
        <p:spPr>
          <a:xfrm>
            <a:off x="6172200" y="1371600"/>
            <a:ext cx="544068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74"/>
          <p:cNvSpPr txBox="1"/>
          <p:nvPr/>
        </p:nvSpPr>
        <p:spPr>
          <a:xfrm>
            <a:off x="6492240" y="1600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E8B57"/>
                </a:solidFill>
              </a:rPr>
              <a:t>Carbon</a:t>
            </a:r>
            <a:endParaRPr lang="en-US" sz="2400" dirty="0"/>
          </a:p>
        </p:txBody>
      </p:sp>
      <p:sp>
        <p:nvSpPr>
          <p:cNvPr id="9" name="t75"/>
          <p:cNvSpPr txBox="1"/>
          <p:nvPr/>
        </p:nvSpPr>
        <p:spPr>
          <a:xfrm>
            <a:off x="6492240" y="2103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manufacturing + transport emissions</a:t>
            </a:r>
            <a:endParaRPr lang="en-US" sz="1500" dirty="0"/>
          </a:p>
        </p:txBody>
      </p:sp>
      <p:sp>
        <p:nvSpPr>
          <p:cNvPr id="10" name="t76"/>
          <p:cNvSpPr txBox="1"/>
          <p:nvPr/>
        </p:nvSpPr>
        <p:spPr>
          <a:xfrm>
            <a:off x="6492240" y="269748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manufacturing = qty × kWh/unit × kg CO2e/kWh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transport = qty × transport kg CO2e/unit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reported in kg per order, tonnes in total</a:t>
            </a:r>
            <a:endParaRPr lang="en-US" sz="1500" dirty="0"/>
          </a:p>
        </p:txBody>
      </p:sp>
      <p:sp>
        <p:nvSpPr>
          <p:cNvPr id="11" name="t77"/>
          <p:cNvSpPr txBox="1"/>
          <p:nvPr/>
        </p:nvSpPr>
        <p:spPr>
          <a:xfrm>
            <a:off x="548640" y="5257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Delivery: an order ships on the Friday of the week its last unit is built. Arrival = ship date + transit days. Late if arrival is after the due date.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Why one combined model instead of order by order</a:t>
            </a:r>
            <a:endParaRPr lang="en-US" sz="3200" dirty="0"/>
          </a:p>
        </p:txBody>
      </p:sp>
      <p:sp>
        <p:nvSpPr>
          <p:cNvPr id="3" name="c78"/>
          <p:cNvSpPr/>
          <p:nvPr/>
        </p:nvSpPr>
        <p:spPr>
          <a:xfrm>
            <a:off x="548640" y="1371600"/>
            <a:ext cx="544068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79"/>
          <p:cNvSpPr txBox="1"/>
          <p:nvPr/>
        </p:nvSpPr>
        <p:spPr>
          <a:xfrm>
            <a:off x="868680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</a:rPr>
              <a:t>Order by order (greedy)</a:t>
            </a:r>
            <a:endParaRPr lang="en-US" sz="2200" dirty="0"/>
          </a:p>
        </p:txBody>
      </p:sp>
      <p:sp>
        <p:nvSpPr>
          <p:cNvPr id="5" name="t80"/>
          <p:cNvSpPr txBox="1"/>
          <p:nvPr/>
        </p:nvSpPr>
        <p:spPr>
          <a:xfrm>
            <a:off x="868680" y="219456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Each order grabs its cheapest plant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Early orders use up capacity later orders need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Decisions cannot be undone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Ignores delivery dates unless checked one at a time</a:t>
            </a:r>
            <a:endParaRPr lang="en-US" sz="1500" dirty="0"/>
          </a:p>
        </p:txBody>
      </p:sp>
      <p:sp>
        <p:nvSpPr>
          <p:cNvPr id="6" name="c81"/>
          <p:cNvSpPr/>
          <p:nvPr/>
        </p:nvSpPr>
        <p:spPr>
          <a:xfrm>
            <a:off x="6172200" y="1371600"/>
            <a:ext cx="544068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82"/>
          <p:cNvSpPr txBox="1"/>
          <p:nvPr/>
        </p:nvSpPr>
        <p:spPr>
          <a:xfrm>
            <a:off x="6492240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E8B57"/>
                </a:solidFill>
              </a:rPr>
              <a:t>Combined optimisation (ours)</a:t>
            </a:r>
            <a:endParaRPr lang="en-US" sz="2200" dirty="0"/>
          </a:p>
        </p:txBody>
      </p:sp>
      <p:sp>
        <p:nvSpPr>
          <p:cNvPr id="8" name="t83"/>
          <p:cNvSpPr txBox="1"/>
          <p:nvPr/>
        </p:nvSpPr>
        <p:spPr>
          <a:xfrm>
            <a:off x="6492240" y="219456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All 150 orders compete for capacity in one model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Solver sees every trade-off at once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Respects capacity, eligibility and due dates together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Re-plans everything in about 2 seconds after a change</a:t>
            </a:r>
            <a:endParaRPr lang="en-US" sz="1500" dirty="0"/>
          </a:p>
        </p:txBody>
      </p:sp>
      <p:sp>
        <p:nvSpPr>
          <p:cNvPr id="9" name="t84"/>
          <p:cNvSpPr txBox="1"/>
          <p:nvPr/>
        </p:nvSpPr>
        <p:spPr>
          <a:xfrm>
            <a:off x="548640" y="49834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On our data the greedy cheapest-plant rule leaves 106 of 150 orders late. The combined plan leaves 2 late, and both of those cannot reach their due date from any plant with free capacity.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OR model: a mixed-integer program in PuLP</a:t>
            </a:r>
            <a:endParaRPr lang="en-US" sz="3200" dirty="0"/>
          </a:p>
        </p:txBody>
      </p:sp>
      <p:sp>
        <p:nvSpPr>
          <p:cNvPr id="3" name="c85"/>
          <p:cNvSpPr/>
          <p:nvPr/>
        </p:nvSpPr>
        <p:spPr>
          <a:xfrm>
            <a:off x="548640" y="1325880"/>
            <a:ext cx="5394960" cy="4846320"/>
          </a:xfrm>
          <a:prstGeom prst="roundRect">
            <a:avLst>
              <a:gd name="adj" fmla="val 1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86"/>
          <p:cNvSpPr txBox="1"/>
          <p:nvPr/>
        </p:nvSpPr>
        <p:spPr>
          <a:xfrm>
            <a:off x="822960" y="1508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Decision variables</a:t>
            </a:r>
            <a:endParaRPr lang="en-US" sz="2000" dirty="0"/>
          </a:p>
        </p:txBody>
      </p:sp>
      <p:sp>
        <p:nvSpPr>
          <p:cNvPr id="5" name="t87"/>
          <p:cNvSpPr txBox="1"/>
          <p:nvPr/>
        </p:nvSpPr>
        <p:spPr>
          <a:xfrm>
            <a:off x="822960" y="201168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x[i, p, w] = 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order i is built at plant p and finished by week w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u[i] = 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order i cannot be built (shortage, always reported)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Candidate weeks per order and plant: the last on-time week, plus every later week (late options).</a:t>
            </a:r>
            <a:endParaRPr lang="en-US" sz="1500" dirty="0"/>
          </a:p>
        </p:txBody>
      </p:sp>
      <p:sp>
        <p:nvSpPr>
          <p:cNvPr id="6" name="t88"/>
          <p:cNvSpPr txBox="1"/>
          <p:nvPr/>
        </p:nvSpPr>
        <p:spPr>
          <a:xfrm>
            <a:off x="822960" y="50292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Solver: HiGHS via PuLP (CBC fallback), proven optimal, single thread for repeatable results.</a:t>
            </a:r>
            <a:endParaRPr lang="en-US" sz="1300" dirty="0"/>
          </a:p>
        </p:txBody>
      </p:sp>
      <p:sp>
        <p:nvSpPr>
          <p:cNvPr id="7" name="t89"/>
          <p:cNvSpPr txBox="1"/>
          <p:nvPr/>
        </p:nvSpPr>
        <p:spPr>
          <a:xfrm>
            <a:off x="6309360" y="13258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Constraints</a:t>
            </a:r>
            <a:endParaRPr lang="en-US" sz="2000" dirty="0"/>
          </a:p>
        </p:txBody>
      </p:sp>
      <p:sp>
        <p:nvSpPr>
          <p:cNvPr id="8" name="d90"/>
          <p:cNvSpPr/>
          <p:nvPr/>
        </p:nvSpPr>
        <p:spPr>
          <a:xfrm>
            <a:off x="6309360" y="1828800"/>
            <a:ext cx="457200" cy="45720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9" name="dl91"/>
          <p:cNvSpPr txBox="1"/>
          <p:nvPr/>
        </p:nvSpPr>
        <p:spPr>
          <a:xfrm>
            <a:off x="63093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92"/>
          <p:cNvSpPr txBox="1"/>
          <p:nvPr/>
        </p:nvSpPr>
        <p:spPr>
          <a:xfrm>
            <a:off x="6903720" y="18105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Assign once</a:t>
            </a:r>
            <a:endParaRPr lang="en-US" sz="1500" dirty="0"/>
          </a:p>
        </p:txBody>
      </p:sp>
      <p:sp>
        <p:nvSpPr>
          <p:cNvPr id="11" name="t93"/>
          <p:cNvSpPr txBox="1"/>
          <p:nvPr/>
        </p:nvSpPr>
        <p:spPr>
          <a:xfrm>
            <a:off x="6903720" y="213055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Σ x[i,p,w] + u[i] = 1 for every order</a:t>
            </a:r>
            <a:endParaRPr lang="en-US" sz="1300" dirty="0"/>
          </a:p>
        </p:txBody>
      </p:sp>
      <p:sp>
        <p:nvSpPr>
          <p:cNvPr id="12" name="d94"/>
          <p:cNvSpPr/>
          <p:nvPr/>
        </p:nvSpPr>
        <p:spPr>
          <a:xfrm>
            <a:off x="6309360" y="2697480"/>
            <a:ext cx="457200" cy="45720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3" name="dl95"/>
          <p:cNvSpPr txBox="1"/>
          <p:nvPr/>
        </p:nvSpPr>
        <p:spPr>
          <a:xfrm>
            <a:off x="630936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96"/>
          <p:cNvSpPr txBox="1"/>
          <p:nvPr/>
        </p:nvSpPr>
        <p:spPr>
          <a:xfrm>
            <a:off x="6903720" y="26791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Capability</a:t>
            </a:r>
            <a:endParaRPr lang="en-US" sz="1500" dirty="0"/>
          </a:p>
        </p:txBody>
      </p:sp>
      <p:sp>
        <p:nvSpPr>
          <p:cNvPr id="15" name="t97"/>
          <p:cNvSpPr txBox="1"/>
          <p:nvPr/>
        </p:nvSpPr>
        <p:spPr>
          <a:xfrm>
            <a:off x="6903720" y="299923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x exists only if plant p makes the product and has a route</a:t>
            </a:r>
            <a:endParaRPr lang="en-US" sz="1300" dirty="0"/>
          </a:p>
        </p:txBody>
      </p:sp>
      <p:sp>
        <p:nvSpPr>
          <p:cNvPr id="16" name="d98"/>
          <p:cNvSpPr/>
          <p:nvPr/>
        </p:nvSpPr>
        <p:spPr>
          <a:xfrm>
            <a:off x="6309360" y="3566160"/>
            <a:ext cx="457200" cy="45720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7" name="dl99"/>
          <p:cNvSpPr txBox="1"/>
          <p:nvPr/>
        </p:nvSpPr>
        <p:spPr>
          <a:xfrm>
            <a:off x="630936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100"/>
          <p:cNvSpPr txBox="1"/>
          <p:nvPr/>
        </p:nvSpPr>
        <p:spPr>
          <a:xfrm>
            <a:off x="6903720" y="35478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Capacity</a:t>
            </a:r>
            <a:endParaRPr lang="en-US" sz="1500" dirty="0"/>
          </a:p>
        </p:txBody>
      </p:sp>
      <p:sp>
        <p:nvSpPr>
          <p:cNvPr id="19" name="t101"/>
          <p:cNvSpPr txBox="1"/>
          <p:nvPr/>
        </p:nvSpPr>
        <p:spPr>
          <a:xfrm>
            <a:off x="6903720" y="386791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Cumulative per plant, product, week: units due by week t ≤ capacity up to week t</a:t>
            </a:r>
            <a:endParaRPr lang="en-US" sz="1300" dirty="0"/>
          </a:p>
        </p:txBody>
      </p:sp>
      <p:sp>
        <p:nvSpPr>
          <p:cNvPr id="20" name="d102"/>
          <p:cNvSpPr/>
          <p:nvPr/>
        </p:nvSpPr>
        <p:spPr>
          <a:xfrm>
            <a:off x="6309360" y="4434840"/>
            <a:ext cx="457200" cy="45720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1" name="dl103"/>
          <p:cNvSpPr txBox="1"/>
          <p:nvPr/>
        </p:nvSpPr>
        <p:spPr>
          <a:xfrm>
            <a:off x="630936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104"/>
          <p:cNvSpPr txBox="1"/>
          <p:nvPr/>
        </p:nvSpPr>
        <p:spPr>
          <a:xfrm>
            <a:off x="6903720" y="44165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Events</a:t>
            </a:r>
            <a:endParaRPr lang="en-US" sz="1500" dirty="0"/>
          </a:p>
        </p:txBody>
      </p:sp>
      <p:sp>
        <p:nvSpPr>
          <p:cNvPr id="23" name="t105"/>
          <p:cNvSpPr txBox="1"/>
          <p:nvPr/>
        </p:nvSpPr>
        <p:spPr>
          <a:xfrm>
            <a:off x="6903720" y="473659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Capacity × (1 − loss %) only on affected days; original kept</a:t>
            </a:r>
            <a:endParaRPr lang="en-US" sz="1300" dirty="0"/>
          </a:p>
        </p:txBody>
      </p:sp>
      <p:sp>
        <p:nvSpPr>
          <p:cNvPr id="24" name="d106"/>
          <p:cNvSpPr/>
          <p:nvPr/>
        </p:nvSpPr>
        <p:spPr>
          <a:xfrm>
            <a:off x="6309360" y="5303520"/>
            <a:ext cx="457200" cy="45720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5" name="dl107"/>
          <p:cNvSpPr txBox="1"/>
          <p:nvPr/>
        </p:nvSpPr>
        <p:spPr>
          <a:xfrm>
            <a:off x="630936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108"/>
          <p:cNvSpPr txBox="1"/>
          <p:nvPr/>
        </p:nvSpPr>
        <p:spPr>
          <a:xfrm>
            <a:off x="6903720" y="52852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Fixed choices</a:t>
            </a:r>
            <a:endParaRPr lang="en-US" sz="1500" dirty="0"/>
          </a:p>
        </p:txBody>
      </p:sp>
      <p:sp>
        <p:nvSpPr>
          <p:cNvPr id="27" name="t109"/>
          <p:cNvSpPr txBox="1"/>
          <p:nvPr/>
        </p:nvSpPr>
        <p:spPr>
          <a:xfrm>
            <a:off x="6903720" y="56052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User-confirmed plants are locked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Objective: delivery first, then 0.7 cost + 0.3 carbon</a:t>
            </a:r>
            <a:endParaRPr lang="en-US" sz="3200" dirty="0"/>
          </a:p>
        </p:txBody>
      </p:sp>
      <p:sp>
        <p:nvSpPr>
          <p:cNvPr id="3" name="c110"/>
          <p:cNvSpPr/>
          <p:nvPr/>
        </p:nvSpPr>
        <p:spPr>
          <a:xfrm>
            <a:off x="548640" y="1371600"/>
            <a:ext cx="60350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d111"/>
          <p:cNvSpPr/>
          <p:nvPr/>
        </p:nvSpPr>
        <p:spPr>
          <a:xfrm>
            <a:off x="731520" y="1527048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dl112"/>
          <p:cNvSpPr txBox="1"/>
          <p:nvPr/>
        </p:nvSpPr>
        <p:spPr>
          <a:xfrm>
            <a:off x="731520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113"/>
          <p:cNvSpPr txBox="1"/>
          <p:nvPr/>
        </p:nvSpPr>
        <p:spPr>
          <a:xfrm>
            <a:off x="1371600" y="1463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Allocate every order</a:t>
            </a:r>
            <a:endParaRPr lang="en-US" sz="1600" dirty="0"/>
          </a:p>
        </p:txBody>
      </p:sp>
      <p:sp>
        <p:nvSpPr>
          <p:cNvPr id="7" name="t114"/>
          <p:cNvSpPr txBox="1"/>
          <p:nvPr/>
        </p:nvSpPr>
        <p:spPr>
          <a:xfrm>
            <a:off x="1371600" y="1783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Penalty 1000 per order that cannot be built</a:t>
            </a:r>
            <a:endParaRPr lang="en-US" sz="1300" dirty="0"/>
          </a:p>
        </p:txBody>
      </p:sp>
      <p:sp>
        <p:nvSpPr>
          <p:cNvPr id="8" name="c115"/>
          <p:cNvSpPr/>
          <p:nvPr/>
        </p:nvSpPr>
        <p:spPr>
          <a:xfrm>
            <a:off x="548640" y="2331720"/>
            <a:ext cx="60350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d116"/>
          <p:cNvSpPr/>
          <p:nvPr/>
        </p:nvSpPr>
        <p:spPr>
          <a:xfrm>
            <a:off x="731520" y="248716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0" name="dl117"/>
          <p:cNvSpPr txBox="1"/>
          <p:nvPr/>
        </p:nvSpPr>
        <p:spPr>
          <a:xfrm>
            <a:off x="73152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118"/>
          <p:cNvSpPr txBox="1"/>
          <p:nvPr/>
        </p:nvSpPr>
        <p:spPr>
          <a:xfrm>
            <a:off x="1371600" y="2423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Fewest late orders</a:t>
            </a:r>
            <a:endParaRPr lang="en-US" sz="1600" dirty="0"/>
          </a:p>
        </p:txBody>
      </p:sp>
      <p:sp>
        <p:nvSpPr>
          <p:cNvPr id="12" name="t119"/>
          <p:cNvSpPr txBox="1"/>
          <p:nvPr/>
        </p:nvSpPr>
        <p:spPr>
          <a:xfrm>
            <a:off x="1371600" y="2743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Penalty 10 per late order</a:t>
            </a:r>
            <a:endParaRPr lang="en-US" sz="1300" dirty="0"/>
          </a:p>
        </p:txBody>
      </p:sp>
      <p:sp>
        <p:nvSpPr>
          <p:cNvPr id="13" name="c120"/>
          <p:cNvSpPr/>
          <p:nvPr/>
        </p:nvSpPr>
        <p:spPr>
          <a:xfrm>
            <a:off x="548640" y="3291840"/>
            <a:ext cx="60350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d121"/>
          <p:cNvSpPr/>
          <p:nvPr/>
        </p:nvSpPr>
        <p:spPr>
          <a:xfrm>
            <a:off x="731520" y="344728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5" name="dl122"/>
          <p:cNvSpPr txBox="1"/>
          <p:nvPr/>
        </p:nvSpPr>
        <p:spPr>
          <a:xfrm>
            <a:off x="731520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123"/>
          <p:cNvSpPr txBox="1"/>
          <p:nvPr/>
        </p:nvSpPr>
        <p:spPr>
          <a:xfrm>
            <a:off x="1371600" y="3383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Fewest late days</a:t>
            </a:r>
            <a:endParaRPr lang="en-US" sz="1600" dirty="0"/>
          </a:p>
        </p:txBody>
      </p:sp>
      <p:sp>
        <p:nvSpPr>
          <p:cNvPr id="17" name="t124"/>
          <p:cNvSpPr txBox="1"/>
          <p:nvPr/>
        </p:nvSpPr>
        <p:spPr>
          <a:xfrm>
            <a:off x="1371600" y="3703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Penalty 0.1 per day late</a:t>
            </a:r>
            <a:endParaRPr lang="en-US" sz="1300" dirty="0"/>
          </a:p>
        </p:txBody>
      </p:sp>
      <p:sp>
        <p:nvSpPr>
          <p:cNvPr id="18" name="c125"/>
          <p:cNvSpPr/>
          <p:nvPr/>
        </p:nvSpPr>
        <p:spPr>
          <a:xfrm>
            <a:off x="548640" y="4251960"/>
            <a:ext cx="60350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d126"/>
          <p:cNvSpPr/>
          <p:nvPr/>
        </p:nvSpPr>
        <p:spPr>
          <a:xfrm>
            <a:off x="731520" y="4407408"/>
            <a:ext cx="457200" cy="4572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dl127"/>
          <p:cNvSpPr txBox="1"/>
          <p:nvPr/>
        </p:nvSpPr>
        <p:spPr>
          <a:xfrm>
            <a:off x="731520" y="4407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128"/>
          <p:cNvSpPr txBox="1"/>
          <p:nvPr/>
        </p:nvSpPr>
        <p:spPr>
          <a:xfrm>
            <a:off x="1371600" y="4343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Best cost and carbon</a:t>
            </a:r>
            <a:endParaRPr lang="en-US" sz="1600" dirty="0"/>
          </a:p>
        </p:txBody>
      </p:sp>
      <p:sp>
        <p:nvSpPr>
          <p:cNvPr id="22" name="t129"/>
          <p:cNvSpPr txBox="1"/>
          <p:nvPr/>
        </p:nvSpPr>
        <p:spPr>
          <a:xfrm>
            <a:off x="1371600" y="4663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0.7 × cost / C_ref + 0.3 × carbon / K_ref</a:t>
            </a:r>
            <a:endParaRPr lang="en-US" sz="1300" dirty="0"/>
          </a:p>
        </p:txBody>
      </p:sp>
      <p:sp>
        <p:nvSpPr>
          <p:cNvPr id="23" name="t130"/>
          <p:cNvSpPr txBox="1"/>
          <p:nvPr/>
        </p:nvSpPr>
        <p:spPr>
          <a:xfrm>
            <a:off x="7040880" y="1371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Normalisation</a:t>
            </a:r>
            <a:endParaRPr lang="en-US" sz="2000" dirty="0"/>
          </a:p>
        </p:txBody>
      </p:sp>
      <p:sp>
        <p:nvSpPr>
          <p:cNvPr id="24" name="t131"/>
          <p:cNvSpPr txBox="1"/>
          <p:nvPr/>
        </p:nvSpPr>
        <p:spPr>
          <a:xfrm>
            <a:off x="7040880" y="18288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Cost (money) and carbon (kg) have different units. We divide each by its best possible total (sum of per-order minimums), so 1.0 means 'as good as it can get' on that axis.</a:t>
            </a:r>
            <a:endParaRPr lang="en-US" sz="1400" dirty="0"/>
          </a:p>
        </p:txBody>
      </p:sp>
      <p:sp>
        <p:nvSpPr>
          <p:cNvPr id="25" name="t132"/>
          <p:cNvSpPr txBox="1"/>
          <p:nvPr/>
        </p:nvSpPr>
        <p:spPr>
          <a:xfrm>
            <a:off x="7040880" y="3429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Why 0.7 / 0.3</a:t>
            </a:r>
            <a:endParaRPr lang="en-US" sz="2000" dirty="0"/>
          </a:p>
        </p:txBody>
      </p:sp>
      <p:sp>
        <p:nvSpPr>
          <p:cNvPr id="26" name="t133"/>
          <p:cNvSpPr txBox="1"/>
          <p:nvPr/>
        </p:nvSpPr>
        <p:spPr>
          <a:xfrm>
            <a:off x="7040880" y="38862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Cost stays the main business driver, while carbon tips near-ties toward greener plants. Users can move the slider; the trade-off chart shows what each setting costs.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Late deliveries, impossible orders and capacity loss</a:t>
            </a:r>
            <a:endParaRPr lang="en-US" sz="3200" dirty="0"/>
          </a:p>
        </p:txBody>
      </p:sp>
      <p:sp>
        <p:nvSpPr>
          <p:cNvPr id="3" name="c134"/>
          <p:cNvSpPr/>
          <p:nvPr/>
        </p:nvSpPr>
        <p:spPr>
          <a:xfrm>
            <a:off x="548640" y="1371600"/>
            <a:ext cx="54406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o135"/>
          <p:cNvSpPr/>
          <p:nvPr/>
        </p:nvSpPr>
        <p:spPr>
          <a:xfrm>
            <a:off x="822960" y="1645920"/>
            <a:ext cx="292608" cy="292608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5" name="t136"/>
          <p:cNvSpPr txBox="1"/>
          <p:nvPr/>
        </p:nvSpPr>
        <p:spPr>
          <a:xfrm>
            <a:off x="1280160" y="16002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Cheapest plant is late</a:t>
            </a:r>
            <a:endParaRPr lang="en-US" sz="1800" dirty="0"/>
          </a:p>
        </p:txBody>
      </p:sp>
      <p:sp>
        <p:nvSpPr>
          <p:cNvPr id="6" name="t137"/>
          <p:cNvSpPr txBox="1"/>
          <p:nvPr/>
        </p:nvSpPr>
        <p:spPr>
          <a:xfrm>
            <a:off x="822960" y="214884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User sees both options: cheapest (late, with days late) and next best on-time plant, with extra cost and carbon. Plan defaults to on time.</a:t>
            </a:r>
            <a:endParaRPr lang="en-US" sz="1400" dirty="0"/>
          </a:p>
        </p:txBody>
      </p:sp>
      <p:sp>
        <p:nvSpPr>
          <p:cNvPr id="7" name="c138"/>
          <p:cNvSpPr/>
          <p:nvPr/>
        </p:nvSpPr>
        <p:spPr>
          <a:xfrm>
            <a:off x="6172200" y="1371600"/>
            <a:ext cx="54406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o139"/>
          <p:cNvSpPr/>
          <p:nvPr/>
        </p:nvSpPr>
        <p:spPr>
          <a:xfrm>
            <a:off x="6446520" y="1645920"/>
            <a:ext cx="292608" cy="29260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140"/>
          <p:cNvSpPr txBox="1"/>
          <p:nvPr/>
        </p:nvSpPr>
        <p:spPr>
          <a:xfrm>
            <a:off x="6903720" y="16002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Every plant is late</a:t>
            </a:r>
            <a:endParaRPr lang="en-US" sz="1800" dirty="0"/>
          </a:p>
        </p:txBody>
      </p:sp>
      <p:sp>
        <p:nvSpPr>
          <p:cNvPr id="10" name="t141"/>
          <p:cNvSpPr txBox="1"/>
          <p:nvPr/>
        </p:nvSpPr>
        <p:spPr>
          <a:xfrm>
            <a:off x="6446520" y="214884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 options are listed with arrival and cost. The user decides; the plan provisionally uses the least-late plant.</a:t>
            </a:r>
            <a:endParaRPr lang="en-US" sz="1400" dirty="0"/>
          </a:p>
        </p:txBody>
      </p:sp>
      <p:sp>
        <p:nvSpPr>
          <p:cNvPr id="11" name="c142"/>
          <p:cNvSpPr/>
          <p:nvPr/>
        </p:nvSpPr>
        <p:spPr>
          <a:xfrm>
            <a:off x="548640" y="3794760"/>
            <a:ext cx="54406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o143"/>
          <p:cNvSpPr/>
          <p:nvPr/>
        </p:nvSpPr>
        <p:spPr>
          <a:xfrm>
            <a:off x="822960" y="4069080"/>
            <a:ext cx="292608" cy="292608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3" name="t144"/>
          <p:cNvSpPr txBox="1"/>
          <p:nvPr/>
        </p:nvSpPr>
        <p:spPr>
          <a:xfrm>
            <a:off x="1280160" y="40233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Product made nowhere</a:t>
            </a:r>
            <a:endParaRPr lang="en-US" sz="1800" dirty="0"/>
          </a:p>
        </p:txBody>
      </p:sp>
      <p:sp>
        <p:nvSpPr>
          <p:cNvPr id="14" name="t145"/>
          <p:cNvSpPr txBox="1"/>
          <p:nvPr/>
        </p:nvSpPr>
        <p:spPr>
          <a:xfrm>
            <a:off x="822960" y="457200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Clear note: 'Product X cannot be made in any plant'. Order listed as not allocated, never dropped.</a:t>
            </a:r>
            <a:endParaRPr lang="en-US" sz="1400" dirty="0"/>
          </a:p>
        </p:txBody>
      </p:sp>
      <p:sp>
        <p:nvSpPr>
          <p:cNvPr id="15" name="c146"/>
          <p:cNvSpPr/>
          <p:nvPr/>
        </p:nvSpPr>
        <p:spPr>
          <a:xfrm>
            <a:off x="6172200" y="3794760"/>
            <a:ext cx="54406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o147"/>
          <p:cNvSpPr/>
          <p:nvPr/>
        </p:nvSpPr>
        <p:spPr>
          <a:xfrm>
            <a:off x="6446520" y="4069080"/>
            <a:ext cx="292608" cy="292608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7" name="t148"/>
          <p:cNvSpPr txBox="1"/>
          <p:nvPr/>
        </p:nvSpPr>
        <p:spPr>
          <a:xfrm>
            <a:off x="6903720" y="40233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Plant loses capacity</a:t>
            </a:r>
            <a:endParaRPr lang="en-US" sz="1800" dirty="0"/>
          </a:p>
        </p:txBody>
      </p:sp>
      <p:sp>
        <p:nvSpPr>
          <p:cNvPr id="18" name="t149"/>
          <p:cNvSpPr txBox="1"/>
          <p:nvPr/>
        </p:nvSpPr>
        <p:spPr>
          <a:xfrm>
            <a:off x="6446520" y="457200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Effective capacity = capacity × (1 − loss %) during the event only. Re-plan, then report what moved and the change in cost, carbon and lateness.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How we use the Gemini API: function calling</a:t>
            </a:r>
            <a:endParaRPr lang="en-US" sz="3200" dirty="0"/>
          </a:p>
        </p:txBody>
      </p:sp>
      <p:sp>
        <p:nvSpPr>
          <p:cNvPr id="3" name="d150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4" name="dl151"/>
          <p:cNvSpPr txBox="1"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152"/>
          <p:cNvSpPr txBox="1"/>
          <p:nvPr/>
        </p:nvSpPr>
        <p:spPr>
          <a:xfrm>
            <a:off x="1188720" y="1325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User asks</a:t>
            </a:r>
            <a:endParaRPr lang="en-US" sz="1600" dirty="0"/>
          </a:p>
        </p:txBody>
      </p:sp>
      <p:sp>
        <p:nvSpPr>
          <p:cNvPr id="6" name="t153"/>
          <p:cNvSpPr txBox="1"/>
          <p:nvPr/>
        </p:nvSpPr>
        <p:spPr>
          <a:xfrm>
            <a:off x="1188720" y="1691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"Plant B loses 30% capacity. Re-plan."</a:t>
            </a:r>
            <a:endParaRPr lang="en-US" sz="1300" dirty="0"/>
          </a:p>
        </p:txBody>
      </p:sp>
      <p:sp>
        <p:nvSpPr>
          <p:cNvPr id="7" name="d154"/>
          <p:cNvSpPr/>
          <p:nvPr/>
        </p:nvSpPr>
        <p:spPr>
          <a:xfrm>
            <a:off x="548640" y="2331720"/>
            <a:ext cx="457200" cy="45720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8" name="dl155"/>
          <p:cNvSpPr txBox="1"/>
          <p:nvPr/>
        </p:nvSpPr>
        <p:spPr>
          <a:xfrm>
            <a:off x="5486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156"/>
          <p:cNvSpPr txBox="1"/>
          <p:nvPr/>
        </p:nvSpPr>
        <p:spPr>
          <a:xfrm>
            <a:off x="1188720" y="2240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Gemini chooses a tool</a:t>
            </a:r>
            <a:endParaRPr lang="en-US" sz="1600" dirty="0"/>
          </a:p>
        </p:txBody>
      </p:sp>
      <p:sp>
        <p:nvSpPr>
          <p:cNvPr id="10" name="t157"/>
          <p:cNvSpPr txBox="1"/>
          <p:nvPr/>
        </p:nvSpPr>
        <p:spPr>
          <a:xfrm>
            <a:off x="1188720" y="26060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Gets the question + 20 tool names, descriptions and parameters</a:t>
            </a:r>
            <a:endParaRPr lang="en-US" sz="1300" dirty="0"/>
          </a:p>
        </p:txBody>
      </p:sp>
      <p:sp>
        <p:nvSpPr>
          <p:cNvPr id="11" name="d158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2" name="dl159"/>
          <p:cNvSpPr txBox="1"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160"/>
          <p:cNvSpPr txBox="1"/>
          <p:nvPr/>
        </p:nvSpPr>
        <p:spPr>
          <a:xfrm>
            <a:off x="1188720" y="3154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Python runs it</a:t>
            </a:r>
            <a:endParaRPr lang="en-US" sz="1600" dirty="0"/>
          </a:p>
        </p:txBody>
      </p:sp>
      <p:sp>
        <p:nvSpPr>
          <p:cNvPr id="14" name="t161"/>
          <p:cNvSpPr txBox="1"/>
          <p:nvPr/>
        </p:nvSpPr>
        <p:spPr>
          <a:xfrm>
            <a:off x="1188720" y="35204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simulate_capacity_loss(plant='B', loss_pct=30) on a copy of the data</a:t>
            </a:r>
            <a:endParaRPr lang="en-US" sz="1300" dirty="0"/>
          </a:p>
        </p:txBody>
      </p:sp>
      <p:sp>
        <p:nvSpPr>
          <p:cNvPr id="15" name="d162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6" name="dl163"/>
          <p:cNvSpPr txBox="1"/>
          <p:nvPr/>
        </p:nvSpPr>
        <p:spPr>
          <a:xfrm>
            <a:off x="54864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164"/>
          <p:cNvSpPr txBox="1"/>
          <p:nvPr/>
        </p:nvSpPr>
        <p:spPr>
          <a:xfrm>
            <a:off x="1188720" y="4069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Result goes back</a:t>
            </a:r>
            <a:endParaRPr lang="en-US" sz="1600" dirty="0"/>
          </a:p>
        </p:txBody>
      </p:sp>
      <p:sp>
        <p:nvSpPr>
          <p:cNvPr id="18" name="t165"/>
          <p:cNvSpPr txBox="1"/>
          <p:nvPr/>
        </p:nvSpPr>
        <p:spPr>
          <a:xfrm>
            <a:off x="1188720" y="4434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JSON with cost, carbon, late orders and orders moved</a:t>
            </a:r>
            <a:endParaRPr lang="en-US" sz="1300" dirty="0"/>
          </a:p>
        </p:txBody>
      </p:sp>
      <p:sp>
        <p:nvSpPr>
          <p:cNvPr id="19" name="d166"/>
          <p:cNvSpPr/>
          <p:nvPr/>
        </p:nvSpPr>
        <p:spPr>
          <a:xfrm>
            <a:off x="548640" y="5074920"/>
            <a:ext cx="457200" cy="45720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0" name="dl167"/>
          <p:cNvSpPr txBox="1"/>
          <p:nvPr/>
        </p:nvSpPr>
        <p:spPr>
          <a:xfrm>
            <a:off x="54864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168"/>
          <p:cNvSpPr txBox="1"/>
          <p:nvPr/>
        </p:nvSpPr>
        <p:spPr>
          <a:xfrm>
            <a:off x="1188720" y="4983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Gemini answers</a:t>
            </a:r>
            <a:endParaRPr lang="en-US" sz="1600" dirty="0"/>
          </a:p>
        </p:txBody>
      </p:sp>
      <p:sp>
        <p:nvSpPr>
          <p:cNvPr id="22" name="t169"/>
          <p:cNvSpPr txBox="1"/>
          <p:nvPr/>
        </p:nvSpPr>
        <p:spPr>
          <a:xfrm>
            <a:off x="1188720" y="53492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Plain English, using only numbers from the tool result</a:t>
            </a:r>
            <a:endParaRPr lang="en-US" sz="1300" dirty="0"/>
          </a:p>
        </p:txBody>
      </p:sp>
      <p:sp>
        <p:nvSpPr>
          <p:cNvPr id="23" name="c170"/>
          <p:cNvSpPr/>
          <p:nvPr/>
        </p:nvSpPr>
        <p:spPr>
          <a:xfrm>
            <a:off x="6583680" y="1325880"/>
            <a:ext cx="5029200" cy="4572000"/>
          </a:xfrm>
          <a:prstGeom prst="roundRect">
            <a:avLst>
              <a:gd name="adj" fmla="val 1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171"/>
          <p:cNvSpPr txBox="1"/>
          <p:nvPr/>
        </p:nvSpPr>
        <p:spPr>
          <a:xfrm>
            <a:off x="6858000" y="1508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Guard rails</a:t>
            </a:r>
            <a:endParaRPr lang="en-US" sz="2000" dirty="0"/>
          </a:p>
        </p:txBody>
      </p:sp>
      <p:sp>
        <p:nvSpPr>
          <p:cNvPr id="25" name="t172"/>
          <p:cNvSpPr txBox="1"/>
          <p:nvPr/>
        </p:nvSpPr>
        <p:spPr>
          <a:xfrm>
            <a:off x="6858000" y="2011680"/>
            <a:ext cx="45720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System prompt: never invent numbers, never create allocations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Faithfulness check: every number in the answer must match a tool result, otherwise the UI warns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Trace saved per question: steps, tools, inputs, outputs, LLM calls, tokens, latency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Refuses rule-breaking requests (e.g. a plant that cannot make the product)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Asks a clarifying question when the request is ambiguous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Mock mode runs the pipeline without an API key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20 predefined tools Gemini can call</a:t>
            </a:r>
            <a:endParaRPr lang="en-US" sz="3200" dirty="0"/>
          </a:p>
        </p:txBody>
      </p:sp>
      <p:sp>
        <p:nvSpPr>
          <p:cNvPr id="3" name="c173"/>
          <p:cNvSpPr/>
          <p:nvPr/>
        </p:nvSpPr>
        <p:spPr>
          <a:xfrm>
            <a:off x="548640" y="1371600"/>
            <a:ext cx="2651760" cy="42062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174"/>
          <p:cNvSpPr txBox="1"/>
          <p:nvPr/>
        </p:nvSpPr>
        <p:spPr>
          <a:xfrm>
            <a:off x="777240" y="1554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</a:rPr>
              <a:t>Look-ups</a:t>
            </a:r>
            <a:endParaRPr lang="en-US" sz="1700" dirty="0"/>
          </a:p>
        </p:txBody>
      </p:sp>
      <p:sp>
        <p:nvSpPr>
          <p:cNvPr id="5" name="t175"/>
          <p:cNvSpPr txBox="1"/>
          <p:nvPr/>
        </p:nvSpPr>
        <p:spPr>
          <a:xfrm>
            <a:off x="777240" y="2103120"/>
            <a:ext cx="2331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get_plan_summary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explain_order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list_late_orders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list_unallocated_orders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list_orders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plant_utilisation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list_capacity_events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get_data_overview</a:t>
            </a:r>
            <a:endParaRPr lang="en-US" sz="1200" dirty="0"/>
          </a:p>
        </p:txBody>
      </p:sp>
      <p:sp>
        <p:nvSpPr>
          <p:cNvPr id="6" name="c176"/>
          <p:cNvSpPr/>
          <p:nvPr/>
        </p:nvSpPr>
        <p:spPr>
          <a:xfrm>
            <a:off x="3383280" y="1371600"/>
            <a:ext cx="2651760" cy="42062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177"/>
          <p:cNvSpPr txBox="1"/>
          <p:nvPr/>
        </p:nvSpPr>
        <p:spPr>
          <a:xfrm>
            <a:off x="3611880" y="1554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E8B57"/>
                </a:solidFill>
              </a:rPr>
              <a:t>Trade-offs</a:t>
            </a:r>
            <a:endParaRPr lang="en-US" sz="1700" dirty="0"/>
          </a:p>
        </p:txBody>
      </p:sp>
      <p:sp>
        <p:nvSpPr>
          <p:cNvPr id="8" name="t178"/>
          <p:cNvSpPr txBox="1"/>
          <p:nvPr/>
        </p:nvSpPr>
        <p:spPr>
          <a:xfrm>
            <a:off x="3611880" y="2103120"/>
            <a:ext cx="2331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cheapest_on_time_plan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carbon_cut_cost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tradeoff_frontier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compare_weight_settings</a:t>
            </a:r>
            <a:endParaRPr lang="en-US" sz="1200" dirty="0"/>
          </a:p>
        </p:txBody>
      </p:sp>
      <p:sp>
        <p:nvSpPr>
          <p:cNvPr id="9" name="c179"/>
          <p:cNvSpPr/>
          <p:nvPr/>
        </p:nvSpPr>
        <p:spPr>
          <a:xfrm>
            <a:off x="6217920" y="1371600"/>
            <a:ext cx="2651760" cy="42062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180"/>
          <p:cNvSpPr txBox="1"/>
          <p:nvPr/>
        </p:nvSpPr>
        <p:spPr>
          <a:xfrm>
            <a:off x="6446520" y="1554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98E04"/>
                </a:solidFill>
              </a:rPr>
              <a:t>What-ifs (on a copy)</a:t>
            </a:r>
            <a:endParaRPr lang="en-US" sz="1700" dirty="0"/>
          </a:p>
        </p:txBody>
      </p:sp>
      <p:sp>
        <p:nvSpPr>
          <p:cNvPr id="11" name="t181"/>
          <p:cNvSpPr txBox="1"/>
          <p:nvPr/>
        </p:nvSpPr>
        <p:spPr>
          <a:xfrm>
            <a:off x="6446520" y="2103120"/>
            <a:ext cx="2331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simulate_capacity_loss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simulate_existing_events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simulate_new_order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simulate_order_change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simulate_force_assignment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simulate_plant_parameter_change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simulate_route_change</a:t>
            </a:r>
            <a:endParaRPr lang="en-US" sz="1200" dirty="0"/>
          </a:p>
        </p:txBody>
      </p:sp>
      <p:sp>
        <p:nvSpPr>
          <p:cNvPr id="12" name="c182"/>
          <p:cNvSpPr/>
          <p:nvPr/>
        </p:nvSpPr>
        <p:spPr>
          <a:xfrm>
            <a:off x="9052560" y="1371600"/>
            <a:ext cx="2651760" cy="42062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183"/>
          <p:cNvSpPr txBox="1"/>
          <p:nvPr/>
        </p:nvSpPr>
        <p:spPr>
          <a:xfrm>
            <a:off x="9281160" y="1554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A6FA5"/>
                </a:solidFill>
              </a:rPr>
              <a:t>Brief</a:t>
            </a:r>
            <a:endParaRPr lang="en-US" sz="1700" dirty="0"/>
          </a:p>
        </p:txBody>
      </p:sp>
      <p:sp>
        <p:nvSpPr>
          <p:cNvPr id="14" name="t184"/>
          <p:cNvSpPr txBox="1"/>
          <p:nvPr/>
        </p:nvSpPr>
        <p:spPr>
          <a:xfrm>
            <a:off x="9281160" y="2103120"/>
            <a:ext cx="2331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get_brief_facts</a:t>
            </a:r>
            <a:endParaRPr lang="en-US" sz="1200" dirty="0"/>
          </a:p>
        </p:txBody>
      </p:sp>
      <p:sp>
        <p:nvSpPr>
          <p:cNvPr id="15" name="t185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Covers every judge question type: allocate, trade-off, cheapest plan, capacity loss, explain a choice, management brief.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Results on our 150-order data pack</a:t>
            </a:r>
            <a:endParaRPr lang="en-US" sz="3200" dirty="0"/>
          </a:p>
        </p:txBody>
      </p:sp>
      <p:sp>
        <p:nvSpPr>
          <p:cNvPr id="3" name="t186"/>
          <p:cNvSpPr txBox="1"/>
          <p:nvPr/>
        </p:nvSpPr>
        <p:spPr>
          <a:xfrm>
            <a:off x="548640" y="13258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 / 150</a:t>
            </a:r>
            <a:endParaRPr lang="en-US" sz="4000" dirty="0"/>
          </a:p>
        </p:txBody>
      </p:sp>
      <p:sp>
        <p:nvSpPr>
          <p:cNvPr id="4" name="t187"/>
          <p:cNvSpPr txBox="1"/>
          <p:nvPr/>
        </p:nvSpPr>
        <p:spPr>
          <a:xfrm>
            <a:off x="548640" y="2148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orders allocated</a:t>
            </a:r>
            <a:endParaRPr lang="en-US" sz="1300" dirty="0"/>
          </a:p>
        </p:txBody>
      </p:sp>
      <p:sp>
        <p:nvSpPr>
          <p:cNvPr id="5" name="t188"/>
          <p:cNvSpPr txBox="1"/>
          <p:nvPr/>
        </p:nvSpPr>
        <p:spPr>
          <a:xfrm>
            <a:off x="3383280" y="13258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6" name="t189"/>
          <p:cNvSpPr txBox="1"/>
          <p:nvPr/>
        </p:nvSpPr>
        <p:spPr>
          <a:xfrm>
            <a:off x="3383280" y="2148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late orders (vs 106 greedy)</a:t>
            </a:r>
            <a:endParaRPr lang="en-US" sz="1300" dirty="0"/>
          </a:p>
        </p:txBody>
      </p:sp>
      <p:sp>
        <p:nvSpPr>
          <p:cNvPr id="7" name="t190"/>
          <p:cNvSpPr txBox="1"/>
          <p:nvPr/>
        </p:nvSpPr>
        <p:spPr>
          <a:xfrm>
            <a:off x="6217920" y="13258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162 t</a:t>
            </a:r>
            <a:endParaRPr lang="en-US" sz="4000" dirty="0"/>
          </a:p>
        </p:txBody>
      </p:sp>
      <p:sp>
        <p:nvSpPr>
          <p:cNvPr id="8" name="t191"/>
          <p:cNvSpPr txBox="1"/>
          <p:nvPr/>
        </p:nvSpPr>
        <p:spPr>
          <a:xfrm>
            <a:off x="6217920" y="2148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carbon (vs 328 t greedy)</a:t>
            </a:r>
            <a:endParaRPr lang="en-US" sz="1300" dirty="0"/>
          </a:p>
        </p:txBody>
      </p:sp>
      <p:sp>
        <p:nvSpPr>
          <p:cNvPr id="9" name="t192"/>
          <p:cNvSpPr txBox="1"/>
          <p:nvPr/>
        </p:nvSpPr>
        <p:spPr>
          <a:xfrm>
            <a:off x="9052560" y="13258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 s</a:t>
            </a:r>
            <a:endParaRPr lang="en-US" sz="4000" dirty="0"/>
          </a:p>
        </p:txBody>
      </p:sp>
      <p:sp>
        <p:nvSpPr>
          <p:cNvPr id="10" name="t193"/>
          <p:cNvSpPr txBox="1"/>
          <p:nvPr/>
        </p:nvSpPr>
        <p:spPr>
          <a:xfrm>
            <a:off x="9052560" y="2148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to solve and prove optimal</a:t>
            </a:r>
            <a:endParaRPr lang="en-US" sz="1300" dirty="0"/>
          </a:p>
        </p:txBody>
      </p:sp>
      <p:graphicFrame>
        <p:nvGraphicFramePr>
          <p:cNvPr id="11" name="chLate" descr=""/>
          <p:cNvGraphicFramePr/>
          <p:nvPr/>
        </p:nvGraphicFramePr>
        <p:xfrm>
          <a:off x="548640" y="2834640"/>
          <a:ext cx="36576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chCarbon" descr=""/>
          <p:cNvGraphicFramePr/>
          <p:nvPr/>
        </p:nvGraphicFramePr>
        <p:xfrm>
          <a:off x="4270248" y="2834640"/>
          <a:ext cx="36576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3" name="chCost" descr=""/>
          <p:cNvGraphicFramePr/>
          <p:nvPr/>
        </p:nvGraphicFramePr>
        <p:xfrm>
          <a:off x="7982712" y="2834640"/>
          <a:ext cx="36576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Tech stack and how we keep it trustworthy</a:t>
            </a:r>
            <a:endParaRPr lang="en-US" sz="3200" dirty="0"/>
          </a:p>
        </p:txBody>
      </p:sp>
      <p:sp>
        <p:nvSpPr>
          <p:cNvPr id="3" name="c194"/>
          <p:cNvSpPr/>
          <p:nvPr/>
        </p:nvSpPr>
        <p:spPr>
          <a:xfrm>
            <a:off x="548640" y="1371600"/>
            <a:ext cx="51206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195"/>
          <p:cNvSpPr txBox="1"/>
          <p:nvPr/>
        </p:nvSpPr>
        <p:spPr>
          <a:xfrm>
            <a:off x="822960" y="1481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Python + pandas</a:t>
            </a:r>
            <a:endParaRPr lang="en-US" sz="1600" dirty="0"/>
          </a:p>
        </p:txBody>
      </p:sp>
      <p:sp>
        <p:nvSpPr>
          <p:cNvPr id="5" name="t196"/>
          <p:cNvSpPr txBox="1"/>
          <p:nvPr/>
        </p:nvSpPr>
        <p:spPr>
          <a:xfrm>
            <a:off x="822960" y="18470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Loading, validation, KPIs</a:t>
            </a:r>
            <a:endParaRPr lang="en-US" sz="1300" dirty="0"/>
          </a:p>
        </p:txBody>
      </p:sp>
      <p:sp>
        <p:nvSpPr>
          <p:cNvPr id="6" name="c197"/>
          <p:cNvSpPr/>
          <p:nvPr/>
        </p:nvSpPr>
        <p:spPr>
          <a:xfrm>
            <a:off x="548640" y="2468880"/>
            <a:ext cx="51206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198"/>
          <p:cNvSpPr txBox="1"/>
          <p:nvPr/>
        </p:nvSpPr>
        <p:spPr>
          <a:xfrm>
            <a:off x="822960" y="25786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PuLP + HiGHS</a:t>
            </a:r>
            <a:endParaRPr lang="en-US" sz="1600" dirty="0"/>
          </a:p>
        </p:txBody>
      </p:sp>
      <p:sp>
        <p:nvSpPr>
          <p:cNvPr id="8" name="t199"/>
          <p:cNvSpPr txBox="1"/>
          <p:nvPr/>
        </p:nvSpPr>
        <p:spPr>
          <a:xfrm>
            <a:off x="822960" y="29443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Mixed-integer optimisation</a:t>
            </a:r>
            <a:endParaRPr lang="en-US" sz="1300" dirty="0"/>
          </a:p>
        </p:txBody>
      </p:sp>
      <p:sp>
        <p:nvSpPr>
          <p:cNvPr id="9" name="c200"/>
          <p:cNvSpPr/>
          <p:nvPr/>
        </p:nvSpPr>
        <p:spPr>
          <a:xfrm>
            <a:off x="548640" y="3566160"/>
            <a:ext cx="51206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201"/>
          <p:cNvSpPr txBox="1"/>
          <p:nvPr/>
        </p:nvSpPr>
        <p:spPr>
          <a:xfrm>
            <a:off x="822960" y="36758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Gemini API (google-genai)</a:t>
            </a:r>
            <a:endParaRPr lang="en-US" sz="1600" dirty="0"/>
          </a:p>
        </p:txBody>
      </p:sp>
      <p:sp>
        <p:nvSpPr>
          <p:cNvPr id="11" name="t202"/>
          <p:cNvSpPr txBox="1"/>
          <p:nvPr/>
        </p:nvSpPr>
        <p:spPr>
          <a:xfrm>
            <a:off x="822960" y="40416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Function calling, plain-English answers</a:t>
            </a:r>
            <a:endParaRPr lang="en-US" sz="1300" dirty="0"/>
          </a:p>
        </p:txBody>
      </p:sp>
      <p:sp>
        <p:nvSpPr>
          <p:cNvPr id="12" name="c203"/>
          <p:cNvSpPr/>
          <p:nvPr/>
        </p:nvSpPr>
        <p:spPr>
          <a:xfrm>
            <a:off x="548640" y="4663440"/>
            <a:ext cx="51206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204"/>
          <p:cNvSpPr txBox="1"/>
          <p:nvPr/>
        </p:nvSpPr>
        <p:spPr>
          <a:xfrm>
            <a:off x="822960" y="47731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Streamlit + Plotly</a:t>
            </a:r>
            <a:endParaRPr lang="en-US" sz="1600" dirty="0"/>
          </a:p>
        </p:txBody>
      </p:sp>
      <p:sp>
        <p:nvSpPr>
          <p:cNvPr id="14" name="t205"/>
          <p:cNvSpPr txBox="1"/>
          <p:nvPr/>
        </p:nvSpPr>
        <p:spPr>
          <a:xfrm>
            <a:off x="822960" y="51389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Chat, plan table, trade-off chart, traces</a:t>
            </a:r>
            <a:endParaRPr lang="en-US" sz="1300" dirty="0"/>
          </a:p>
        </p:txBody>
      </p:sp>
      <p:sp>
        <p:nvSpPr>
          <p:cNvPr id="15" name="t206"/>
          <p:cNvSpPr txBox="1"/>
          <p:nvPr/>
        </p:nvSpPr>
        <p:spPr>
          <a:xfrm>
            <a:off x="6217920" y="13716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Trust and audit</a:t>
            </a:r>
            <a:endParaRPr lang="en-US" sz="2000" dirty="0"/>
          </a:p>
        </p:txBody>
      </p:sp>
      <p:sp>
        <p:nvSpPr>
          <p:cNvPr id="16" name="t207"/>
          <p:cNvSpPr txBox="1"/>
          <p:nvPr/>
        </p:nvSpPr>
        <p:spPr>
          <a:xfrm>
            <a:off x="6217920" y="192024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Independent validator recomputes capacity, eligibility, cost and carbon after every solve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Original CSVs are never modified; what-ifs use deep copies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Every answer's numbers are checked against tool outputs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Every question is traced to traces/&lt;run_id&gt;.json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Assumptions and limitations are returned with every plan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Next steps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FastAPI endpoints: /analyze, /ingest, /health, /trace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Docker compose packaging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Evaluation set of 20+ cases with expected results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Weekly carbon intensity and holding-cost extensions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llocation">
  <a:themeElements>
    <a:clrScheme name="Allocation">
      <a:dk1>
        <a:srgbClr val="1B2333"/>
      </a:dk1>
      <a:lt1>
        <a:srgbClr val="FFFFFF"/>
      </a:lt1>
      <a:dk2>
        <a:srgbClr val="1F3A5F"/>
      </a:dk2>
      <a:lt2>
        <a:srgbClr val="F1F4F8"/>
      </a:lt2>
      <a:accent1>
        <a:srgbClr val="1F3A5F"/>
      </a:accent1>
      <a:accent2>
        <a:srgbClr val="2E8B57"/>
      </a:accent2>
      <a:accent3>
        <a:srgbClr val="D98E04"/>
      </a:accent3>
      <a:accent4>
        <a:srgbClr val="8A94A6"/>
      </a:accent4>
      <a:accent5>
        <a:srgbClr val="C0392B"/>
      </a:accent5>
      <a:accent6>
        <a:srgbClr val="4A6FA5"/>
      </a:accent6>
      <a:hlink>
        <a:srgbClr val="1F3A5F"/>
      </a:hlink>
      <a:folHlink>
        <a:srgbClr val="4A6FA5"/>
      </a:folHlink>
    </a:clrScheme>
    <a:fontScheme name="Allocat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Multi-Plant Order Allocation with Cost and Carbon</dc:title>
  <dc:subject>PptxGenJS Presentation</dc:subject>
  <dc:creator>PptxGenJS</dc:creator>
  <cp:lastModifiedBy>PptxGenJS</cp:lastModifiedBy>
  <cp:revision>1</cp:revision>
  <dcterms:created xsi:type="dcterms:W3CDTF">2026-10-11T10:30:57Z</dcterms:created>
  <dcterms:modified xsi:type="dcterms:W3CDTF">2026-10-11T10:30:57Z</dcterms:modified>
</cp:coreProperties>
</file>